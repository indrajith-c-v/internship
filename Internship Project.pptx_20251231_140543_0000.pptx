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mo" charset="1" panose="020B0604020202020204"/>
      <p:regular r:id="rId18"/>
    </p:embeddedFont>
    <p:embeddedFont>
      <p:font typeface="Vollkorn" charset="1" panose="00000500000000000000"/>
      <p:regular r:id="rId19"/>
    </p:embeddedFont>
    <p:embeddedFont>
      <p:font typeface="Inter Bold" charset="1" panose="02000503000000020004"/>
      <p:regular r:id="rId20"/>
    </p:embeddedFont>
    <p:embeddedFont>
      <p:font typeface="Inter" charset="1" panose="02000503000000020004"/>
      <p:regular r:id="rId21"/>
    </p:embeddedFont>
    <p:embeddedFont>
      <p:font typeface="Arial" charset="1" panose="020B0604020202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https://bit.ly/3A1uf1Q" TargetMode="External" Type="http://schemas.openxmlformats.org/officeDocument/2006/relationships/hyperlink"/><Relationship Id="rId5" Target="http://bit.ly/2TtBDfr" TargetMode="External" Type="http://schemas.openxmlformats.org/officeDocument/2006/relationships/hyperlink"/><Relationship Id="rId6" Target="../media/image8.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0A0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10286638"/>
          </a:xfrm>
          <a:custGeom>
            <a:avLst/>
            <a:gdLst/>
            <a:ahLst/>
            <a:cxnLst/>
            <a:rect r="r" b="b" t="t" l="l"/>
            <a:pathLst>
              <a:path h="10286638" w="18287276">
                <a:moveTo>
                  <a:pt x="0" y="0"/>
                </a:moveTo>
                <a:lnTo>
                  <a:pt x="18287276" y="0"/>
                </a:lnTo>
                <a:lnTo>
                  <a:pt x="18287276" y="10286638"/>
                </a:lnTo>
                <a:lnTo>
                  <a:pt x="0" y="10286638"/>
                </a:lnTo>
                <a:lnTo>
                  <a:pt x="0" y="0"/>
                </a:lnTo>
                <a:close/>
              </a:path>
            </a:pathLst>
          </a:custGeom>
          <a:blipFill>
            <a:blip r:embed="rId2"/>
            <a:stretch>
              <a:fillRect l="0" t="0" r="0" b="0"/>
            </a:stretch>
          </a:blipFill>
        </p:spPr>
      </p:sp>
      <p:sp>
        <p:nvSpPr>
          <p:cNvPr name="Freeform 3" id="3"/>
          <p:cNvSpPr/>
          <p:nvPr/>
        </p:nvSpPr>
        <p:spPr>
          <a:xfrm flipH="false" flipV="false" rot="0">
            <a:off x="0" y="6864477"/>
            <a:ext cx="18287276" cy="3422161"/>
          </a:xfrm>
          <a:custGeom>
            <a:avLst/>
            <a:gdLst/>
            <a:ahLst/>
            <a:cxnLst/>
            <a:rect r="r" b="b" t="t" l="l"/>
            <a:pathLst>
              <a:path h="3422161" w="18287276">
                <a:moveTo>
                  <a:pt x="0" y="0"/>
                </a:moveTo>
                <a:lnTo>
                  <a:pt x="18287276" y="0"/>
                </a:lnTo>
                <a:lnTo>
                  <a:pt x="18287276" y="3422161"/>
                </a:lnTo>
                <a:lnTo>
                  <a:pt x="0" y="3422161"/>
                </a:lnTo>
                <a:lnTo>
                  <a:pt x="0" y="0"/>
                </a:lnTo>
                <a:close/>
              </a:path>
            </a:pathLst>
          </a:custGeom>
          <a:blipFill>
            <a:blip r:embed="rId3">
              <a:alphaModFix amt="90000"/>
            </a:blip>
            <a:stretch>
              <a:fillRect l="0" t="-152407" r="0" b="-48180"/>
            </a:stretch>
          </a:blipFill>
        </p:spPr>
      </p:sp>
      <p:sp>
        <p:nvSpPr>
          <p:cNvPr name="TextBox 4" id="4"/>
          <p:cNvSpPr txBox="true"/>
          <p:nvPr/>
        </p:nvSpPr>
        <p:spPr>
          <a:xfrm rot="0">
            <a:off x="2121376" y="1911463"/>
            <a:ext cx="9083745" cy="2154812"/>
          </a:xfrm>
          <a:prstGeom prst="rect">
            <a:avLst/>
          </a:prstGeom>
        </p:spPr>
        <p:txBody>
          <a:bodyPr anchor="t" rtlCol="false" tIns="0" lIns="0" bIns="0" rIns="0">
            <a:spAutoFit/>
          </a:bodyPr>
          <a:lstStyle/>
          <a:p>
            <a:pPr algn="l">
              <a:lnSpc>
                <a:spcPts val="15840"/>
              </a:lnSpc>
            </a:pPr>
            <a:r>
              <a:rPr lang="en-US" sz="13200" spc="600">
                <a:solidFill>
                  <a:srgbClr val="EFEFEF"/>
                </a:solidFill>
                <a:latin typeface="Arimo"/>
                <a:ea typeface="Arimo"/>
                <a:cs typeface="Arimo"/>
                <a:sym typeface="Arimo"/>
              </a:rPr>
              <a:t>Internship Project</a:t>
            </a:r>
          </a:p>
        </p:txBody>
      </p:sp>
      <p:sp>
        <p:nvSpPr>
          <p:cNvPr name="TextBox 5" id="5"/>
          <p:cNvSpPr txBox="true"/>
          <p:nvPr/>
        </p:nvSpPr>
        <p:spPr>
          <a:xfrm rot="0">
            <a:off x="3785673" y="4537291"/>
            <a:ext cx="11139859" cy="514769"/>
          </a:xfrm>
          <a:prstGeom prst="rect">
            <a:avLst/>
          </a:prstGeom>
        </p:spPr>
        <p:txBody>
          <a:bodyPr anchor="t" rtlCol="false" tIns="0" lIns="0" bIns="0" rIns="0">
            <a:spAutoFit/>
          </a:bodyPr>
          <a:lstStyle/>
          <a:p>
            <a:pPr algn="l">
              <a:lnSpc>
                <a:spcPts val="3840"/>
              </a:lnSpc>
            </a:pPr>
            <a:r>
              <a:rPr lang="en-US" sz="3200" spc="600">
                <a:solidFill>
                  <a:srgbClr val="EFEFEF"/>
                </a:solidFill>
                <a:latin typeface="Arimo"/>
                <a:ea typeface="Arimo"/>
                <a:cs typeface="Arimo"/>
                <a:sym typeface="Arimo"/>
              </a:rPr>
              <a:t>Online Internship Application Website</a:t>
            </a:r>
          </a:p>
        </p:txBody>
      </p:sp>
      <p:sp>
        <p:nvSpPr>
          <p:cNvPr name="AutoShape 6" id="6"/>
          <p:cNvSpPr/>
          <p:nvPr/>
        </p:nvSpPr>
        <p:spPr>
          <a:xfrm rot="-5391360">
            <a:off x="-2418883" y="3609270"/>
            <a:ext cx="7841875" cy="0"/>
          </a:xfrm>
          <a:prstGeom prst="line">
            <a:avLst/>
          </a:prstGeom>
          <a:ln cap="rnd" w="9525">
            <a:solidFill>
              <a:srgbClr val="EFEFEF"/>
            </a:solidFill>
            <a:prstDash val="solid"/>
            <a:headEnd type="oval" len="lg" w="lg"/>
            <a:tailEnd type="none" len="sm" w="sm"/>
          </a:ln>
        </p:spPr>
      </p:sp>
      <p:sp>
        <p:nvSpPr>
          <p:cNvPr name="AutoShape 7" id="7"/>
          <p:cNvSpPr/>
          <p:nvPr/>
        </p:nvSpPr>
        <p:spPr>
          <a:xfrm rot="-5392260">
            <a:off x="-2396938" y="3787692"/>
            <a:ext cx="8436607" cy="0"/>
          </a:xfrm>
          <a:prstGeom prst="line">
            <a:avLst/>
          </a:prstGeom>
          <a:ln cap="rnd" w="9525">
            <a:solidFill>
              <a:srgbClr val="EFEFEF"/>
            </a:solidFill>
            <a:prstDash val="solid"/>
            <a:headEnd type="oval" len="lg" w="lg"/>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0A0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10286638"/>
          </a:xfrm>
          <a:custGeom>
            <a:avLst/>
            <a:gdLst/>
            <a:ahLst/>
            <a:cxnLst/>
            <a:rect r="r" b="b" t="t" l="l"/>
            <a:pathLst>
              <a:path h="10286638" w="18287276">
                <a:moveTo>
                  <a:pt x="0" y="0"/>
                </a:moveTo>
                <a:lnTo>
                  <a:pt x="18287276" y="0"/>
                </a:lnTo>
                <a:lnTo>
                  <a:pt x="18287276" y="10286638"/>
                </a:lnTo>
                <a:lnTo>
                  <a:pt x="0" y="10286638"/>
                </a:lnTo>
                <a:lnTo>
                  <a:pt x="0" y="0"/>
                </a:lnTo>
                <a:close/>
              </a:path>
            </a:pathLst>
          </a:custGeom>
          <a:blipFill>
            <a:blip r:embed="rId2"/>
            <a:stretch>
              <a:fillRect l="0" t="0" r="0" b="0"/>
            </a:stretch>
          </a:blipFill>
        </p:spPr>
      </p:sp>
      <p:grpSp>
        <p:nvGrpSpPr>
          <p:cNvPr name="Group 3" id="3"/>
          <p:cNvGrpSpPr/>
          <p:nvPr/>
        </p:nvGrpSpPr>
        <p:grpSpPr>
          <a:xfrm rot="0">
            <a:off x="1795348" y="698811"/>
            <a:ext cx="4166845" cy="786927"/>
            <a:chOff x="0" y="0"/>
            <a:chExt cx="5555793" cy="1049236"/>
          </a:xfrm>
        </p:grpSpPr>
        <p:sp>
          <p:nvSpPr>
            <p:cNvPr name="Freeform 4" id="4"/>
            <p:cNvSpPr/>
            <p:nvPr/>
          </p:nvSpPr>
          <p:spPr>
            <a:xfrm flipH="false" flipV="false" rot="0">
              <a:off x="0" y="0"/>
              <a:ext cx="5555787" cy="1049232"/>
            </a:xfrm>
            <a:custGeom>
              <a:avLst/>
              <a:gdLst/>
              <a:ahLst/>
              <a:cxnLst/>
              <a:rect r="r" b="b" t="t" l="l"/>
              <a:pathLst>
                <a:path h="1049232" w="5555787">
                  <a:moveTo>
                    <a:pt x="0" y="0"/>
                  </a:moveTo>
                  <a:lnTo>
                    <a:pt x="5555787" y="0"/>
                  </a:lnTo>
                  <a:lnTo>
                    <a:pt x="5555787" y="1049232"/>
                  </a:lnTo>
                  <a:lnTo>
                    <a:pt x="0" y="1049232"/>
                  </a:lnTo>
                  <a:close/>
                </a:path>
              </a:pathLst>
            </a:custGeom>
            <a:solidFill>
              <a:srgbClr val="000000">
                <a:alpha val="0"/>
              </a:srgbClr>
            </a:solidFill>
            <a:ln w="12700">
              <a:solidFill>
                <a:srgbClr val="000000"/>
              </a:solidFill>
            </a:ln>
          </p:spPr>
        </p:sp>
        <p:sp>
          <p:nvSpPr>
            <p:cNvPr name="TextBox 5" id="5"/>
            <p:cNvSpPr txBox="true"/>
            <p:nvPr/>
          </p:nvSpPr>
          <p:spPr>
            <a:xfrm>
              <a:off x="0" y="-19050"/>
              <a:ext cx="5555793" cy="1068286"/>
            </a:xfrm>
            <a:prstGeom prst="rect">
              <a:avLst/>
            </a:prstGeom>
          </p:spPr>
          <p:txBody>
            <a:bodyPr anchor="b" rtlCol="false" tIns="0" lIns="0" bIns="0" rIns="0"/>
            <a:lstStyle/>
            <a:p>
              <a:pPr algn="l">
                <a:lnSpc>
                  <a:spcPts val="3887"/>
                </a:lnSpc>
              </a:pPr>
              <a:r>
                <a:rPr lang="en-US" sz="3240">
                  <a:solidFill>
                    <a:srgbClr val="EFEFEF"/>
                  </a:solidFill>
                  <a:latin typeface="Arimo"/>
                  <a:ea typeface="Arimo"/>
                  <a:cs typeface="Arimo"/>
                  <a:sym typeface="Arimo"/>
                </a:rPr>
                <a:t>Introduction</a:t>
              </a:r>
            </a:p>
          </p:txBody>
        </p:sp>
      </p:grpSp>
      <p:grpSp>
        <p:nvGrpSpPr>
          <p:cNvPr name="Group 6" id="6"/>
          <p:cNvGrpSpPr/>
          <p:nvPr/>
        </p:nvGrpSpPr>
        <p:grpSpPr>
          <a:xfrm rot="0">
            <a:off x="7396229" y="2646559"/>
            <a:ext cx="9740236" cy="4299871"/>
            <a:chOff x="0" y="0"/>
            <a:chExt cx="12986982" cy="5733161"/>
          </a:xfrm>
        </p:grpSpPr>
        <p:sp>
          <p:nvSpPr>
            <p:cNvPr name="Freeform 7" id="7"/>
            <p:cNvSpPr/>
            <p:nvPr/>
          </p:nvSpPr>
          <p:spPr>
            <a:xfrm flipH="false" flipV="false" rot="0">
              <a:off x="0" y="0"/>
              <a:ext cx="12986979" cy="5733163"/>
            </a:xfrm>
            <a:custGeom>
              <a:avLst/>
              <a:gdLst/>
              <a:ahLst/>
              <a:cxnLst/>
              <a:rect r="r" b="b" t="t" l="l"/>
              <a:pathLst>
                <a:path h="5733163" w="12986979">
                  <a:moveTo>
                    <a:pt x="0" y="0"/>
                  </a:moveTo>
                  <a:lnTo>
                    <a:pt x="12986979" y="0"/>
                  </a:lnTo>
                  <a:lnTo>
                    <a:pt x="12986979" y="5733163"/>
                  </a:lnTo>
                  <a:lnTo>
                    <a:pt x="0" y="5733163"/>
                  </a:lnTo>
                  <a:close/>
                </a:path>
              </a:pathLst>
            </a:custGeom>
            <a:solidFill>
              <a:srgbClr val="000000">
                <a:alpha val="0"/>
              </a:srgbClr>
            </a:solidFill>
            <a:ln w="12700">
              <a:solidFill>
                <a:srgbClr val="000000"/>
              </a:solidFill>
            </a:ln>
          </p:spPr>
        </p:sp>
        <p:sp>
          <p:nvSpPr>
            <p:cNvPr name="TextBox 8" id="8"/>
            <p:cNvSpPr txBox="true"/>
            <p:nvPr/>
          </p:nvSpPr>
          <p:spPr>
            <a:xfrm>
              <a:off x="0" y="-276225"/>
              <a:ext cx="12986982" cy="6009386"/>
            </a:xfrm>
            <a:prstGeom prst="rect">
              <a:avLst/>
            </a:prstGeom>
          </p:spPr>
          <p:txBody>
            <a:bodyPr anchor="b" rtlCol="false" tIns="0" lIns="0" bIns="0" rIns="0"/>
            <a:lstStyle/>
            <a:p>
              <a:pPr algn="just">
                <a:lnSpc>
                  <a:spcPts val="5759"/>
                </a:lnSpc>
              </a:pPr>
              <a:r>
                <a:rPr lang="en-US" sz="2400" spc="85">
                  <a:solidFill>
                    <a:srgbClr val="EFEFEF"/>
                  </a:solidFill>
                  <a:latin typeface="Vollkorn"/>
                  <a:ea typeface="Vollkorn"/>
                  <a:cs typeface="Vollkorn"/>
                  <a:sym typeface="Vollkorn"/>
                </a:rPr>
                <a:t>This presentation covers the development of a web-based Internship Application Website during a full stack development internship. The project involved creating a platform for managing internship postings and applications, providing students and organizations an efficient way to interact. It highlights the skills acquired and the technologies used in the process.</a:t>
              </a:r>
            </a:p>
          </p:txBody>
        </p:sp>
      </p:grpSp>
      <p:sp>
        <p:nvSpPr>
          <p:cNvPr name="Freeform 9" id="9"/>
          <p:cNvSpPr/>
          <p:nvPr/>
        </p:nvSpPr>
        <p:spPr>
          <a:xfrm flipH="false" flipV="false" rot="0">
            <a:off x="1628718" y="1990801"/>
            <a:ext cx="4392940" cy="5514480"/>
          </a:xfrm>
          <a:custGeom>
            <a:avLst/>
            <a:gdLst/>
            <a:ahLst/>
            <a:cxnLst/>
            <a:rect r="r" b="b" t="t" l="l"/>
            <a:pathLst>
              <a:path h="5514480" w="4392940">
                <a:moveTo>
                  <a:pt x="0" y="0"/>
                </a:moveTo>
                <a:lnTo>
                  <a:pt x="4392939" y="0"/>
                </a:lnTo>
                <a:lnTo>
                  <a:pt x="4392939" y="5514480"/>
                </a:lnTo>
                <a:lnTo>
                  <a:pt x="0" y="5514480"/>
                </a:lnTo>
                <a:lnTo>
                  <a:pt x="0" y="0"/>
                </a:lnTo>
                <a:close/>
              </a:path>
            </a:pathLst>
          </a:custGeom>
          <a:blipFill>
            <a:blip r:embed="rId3"/>
            <a:stretch>
              <a:fillRect l="-1990" t="0" r="-1979" b="-16928"/>
            </a:stretch>
          </a:blipFill>
        </p:spPr>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0A0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10286638"/>
          </a:xfrm>
          <a:custGeom>
            <a:avLst/>
            <a:gdLst/>
            <a:ahLst/>
            <a:cxnLst/>
            <a:rect r="r" b="b" t="t" l="l"/>
            <a:pathLst>
              <a:path h="10286638" w="18287276">
                <a:moveTo>
                  <a:pt x="0" y="0"/>
                </a:moveTo>
                <a:lnTo>
                  <a:pt x="18287276" y="0"/>
                </a:lnTo>
                <a:lnTo>
                  <a:pt x="18287276" y="10286638"/>
                </a:lnTo>
                <a:lnTo>
                  <a:pt x="0" y="10286638"/>
                </a:lnTo>
                <a:lnTo>
                  <a:pt x="0" y="0"/>
                </a:lnTo>
                <a:close/>
              </a:path>
            </a:pathLst>
          </a:custGeom>
          <a:blipFill>
            <a:blip r:embed="rId2"/>
            <a:stretch>
              <a:fillRect l="0" t="0" r="0" b="0"/>
            </a:stretch>
          </a:blipFill>
        </p:spPr>
      </p:sp>
      <p:sp>
        <p:nvSpPr>
          <p:cNvPr name="Freeform 3" id="3"/>
          <p:cNvSpPr/>
          <p:nvPr/>
        </p:nvSpPr>
        <p:spPr>
          <a:xfrm flipH="false" flipV="false" rot="0">
            <a:off x="14185440" y="0"/>
            <a:ext cx="4101836" cy="10286638"/>
          </a:xfrm>
          <a:custGeom>
            <a:avLst/>
            <a:gdLst/>
            <a:ahLst/>
            <a:cxnLst/>
            <a:rect r="r" b="b" t="t" l="l"/>
            <a:pathLst>
              <a:path h="10286638" w="4101836">
                <a:moveTo>
                  <a:pt x="0" y="0"/>
                </a:moveTo>
                <a:lnTo>
                  <a:pt x="4101836" y="0"/>
                </a:lnTo>
                <a:lnTo>
                  <a:pt x="4101836" y="10286638"/>
                </a:lnTo>
                <a:lnTo>
                  <a:pt x="0" y="10286638"/>
                </a:lnTo>
                <a:lnTo>
                  <a:pt x="0" y="0"/>
                </a:lnTo>
                <a:close/>
              </a:path>
            </a:pathLst>
          </a:custGeom>
          <a:blipFill>
            <a:blip r:embed="rId3">
              <a:alphaModFix amt="90000"/>
            </a:blip>
            <a:stretch>
              <a:fillRect l="-310763" t="0" r="-35069" b="0"/>
            </a:stretch>
          </a:blipFill>
        </p:spPr>
      </p:sp>
      <p:grpSp>
        <p:nvGrpSpPr>
          <p:cNvPr name="Group 4" id="4"/>
          <p:cNvGrpSpPr/>
          <p:nvPr/>
        </p:nvGrpSpPr>
        <p:grpSpPr>
          <a:xfrm rot="0">
            <a:off x="2310155" y="4609509"/>
            <a:ext cx="11794274" cy="1067981"/>
            <a:chOff x="0" y="0"/>
            <a:chExt cx="15725699" cy="1423975"/>
          </a:xfrm>
        </p:grpSpPr>
        <p:sp>
          <p:nvSpPr>
            <p:cNvPr name="Freeform 5" id="5"/>
            <p:cNvSpPr/>
            <p:nvPr/>
          </p:nvSpPr>
          <p:spPr>
            <a:xfrm flipH="false" flipV="false" rot="0">
              <a:off x="0" y="0"/>
              <a:ext cx="15725699" cy="1423976"/>
            </a:xfrm>
            <a:custGeom>
              <a:avLst/>
              <a:gdLst/>
              <a:ahLst/>
              <a:cxnLst/>
              <a:rect r="r" b="b" t="t" l="l"/>
              <a:pathLst>
                <a:path h="1423976" w="15725699">
                  <a:moveTo>
                    <a:pt x="0" y="0"/>
                  </a:moveTo>
                  <a:lnTo>
                    <a:pt x="15725699" y="0"/>
                  </a:lnTo>
                  <a:lnTo>
                    <a:pt x="15725699" y="1423976"/>
                  </a:lnTo>
                  <a:lnTo>
                    <a:pt x="0" y="1423976"/>
                  </a:lnTo>
                  <a:close/>
                </a:path>
              </a:pathLst>
            </a:custGeom>
            <a:solidFill>
              <a:srgbClr val="000000">
                <a:alpha val="0"/>
              </a:srgbClr>
            </a:solidFill>
            <a:ln w="12700">
              <a:solidFill>
                <a:srgbClr val="000000"/>
              </a:solidFill>
            </a:ln>
          </p:spPr>
        </p:sp>
        <p:sp>
          <p:nvSpPr>
            <p:cNvPr name="TextBox 6" id="6"/>
            <p:cNvSpPr txBox="true"/>
            <p:nvPr/>
          </p:nvSpPr>
          <p:spPr>
            <a:xfrm>
              <a:off x="0" y="-28575"/>
              <a:ext cx="15725699" cy="1452550"/>
            </a:xfrm>
            <a:prstGeom prst="rect">
              <a:avLst/>
            </a:prstGeom>
          </p:spPr>
          <p:txBody>
            <a:bodyPr anchor="b" rtlCol="false" tIns="0" lIns="0" bIns="0" rIns="0"/>
            <a:lstStyle/>
            <a:p>
              <a:pPr algn="l">
                <a:lnSpc>
                  <a:spcPts val="4320"/>
                </a:lnSpc>
              </a:pPr>
              <a:r>
                <a:rPr lang="en-US" sz="3600">
                  <a:solidFill>
                    <a:srgbClr val="EFEFEF"/>
                  </a:solidFill>
                  <a:latin typeface="Arimo"/>
                  <a:ea typeface="Arimo"/>
                  <a:cs typeface="Arimo"/>
                  <a:sym typeface="Arimo"/>
                </a:rPr>
                <a:t>Full Stack Development Fundamentals</a:t>
              </a:r>
            </a:p>
          </p:txBody>
        </p:sp>
      </p:grpSp>
      <p:sp>
        <p:nvSpPr>
          <p:cNvPr name="AutoShape 7" id="7"/>
          <p:cNvSpPr/>
          <p:nvPr/>
        </p:nvSpPr>
        <p:spPr>
          <a:xfrm rot="10795680">
            <a:off x="-440712" y="8486889"/>
            <a:ext cx="15726585" cy="0"/>
          </a:xfrm>
          <a:prstGeom prst="line">
            <a:avLst/>
          </a:prstGeom>
          <a:ln cap="rnd" w="9525">
            <a:solidFill>
              <a:srgbClr val="EFEFEF"/>
            </a:solidFill>
            <a:prstDash val="solid"/>
            <a:headEnd type="oval" len="lg" w="lg"/>
            <a:tailEnd type="none" len="sm" w="sm"/>
          </a:ln>
        </p:spPr>
      </p:sp>
      <p:sp>
        <p:nvSpPr>
          <p:cNvPr name="AutoShape 8" id="8"/>
          <p:cNvSpPr/>
          <p:nvPr/>
        </p:nvSpPr>
        <p:spPr>
          <a:xfrm rot="10795680">
            <a:off x="-135912" y="8791689"/>
            <a:ext cx="15726585" cy="0"/>
          </a:xfrm>
          <a:prstGeom prst="line">
            <a:avLst/>
          </a:prstGeom>
          <a:ln cap="rnd" w="9525">
            <a:solidFill>
              <a:srgbClr val="EFEFEF"/>
            </a:solidFill>
            <a:prstDash val="solid"/>
            <a:headEnd type="oval" len="lg" w="lg"/>
            <a:tailEnd type="none" len="sm" w="sm"/>
          </a:ln>
        </p:spPr>
      </p:sp>
      <p:sp>
        <p:nvSpPr>
          <p:cNvPr name="AutoShape 9" id="9"/>
          <p:cNvSpPr/>
          <p:nvPr/>
        </p:nvSpPr>
        <p:spPr>
          <a:xfrm rot="10795680">
            <a:off x="-797547" y="8182089"/>
            <a:ext cx="15726585" cy="0"/>
          </a:xfrm>
          <a:prstGeom prst="line">
            <a:avLst/>
          </a:prstGeom>
          <a:ln cap="rnd" w="9525">
            <a:solidFill>
              <a:srgbClr val="EFEFEF"/>
            </a:solidFill>
            <a:prstDash val="solid"/>
            <a:headEnd type="oval" len="lg" w="lg"/>
            <a:tailEnd type="none" len="sm" w="sm"/>
          </a:ln>
        </p:spPr>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0A0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10286638"/>
          </a:xfrm>
          <a:custGeom>
            <a:avLst/>
            <a:gdLst/>
            <a:ahLst/>
            <a:cxnLst/>
            <a:rect r="r" b="b" t="t" l="l"/>
            <a:pathLst>
              <a:path h="10286638" w="18287276">
                <a:moveTo>
                  <a:pt x="0" y="0"/>
                </a:moveTo>
                <a:lnTo>
                  <a:pt x="18287276" y="0"/>
                </a:lnTo>
                <a:lnTo>
                  <a:pt x="18287276" y="10286638"/>
                </a:lnTo>
                <a:lnTo>
                  <a:pt x="0" y="10286638"/>
                </a:lnTo>
                <a:lnTo>
                  <a:pt x="0" y="0"/>
                </a:lnTo>
                <a:close/>
              </a:path>
            </a:pathLst>
          </a:custGeom>
          <a:blipFill>
            <a:blip r:embed="rId2"/>
            <a:stretch>
              <a:fillRect l="0" t="0" r="0" b="0"/>
            </a:stretch>
          </a:blipFill>
        </p:spPr>
      </p:sp>
      <p:grpSp>
        <p:nvGrpSpPr>
          <p:cNvPr name="Group 3" id="3"/>
          <p:cNvGrpSpPr/>
          <p:nvPr/>
        </p:nvGrpSpPr>
        <p:grpSpPr>
          <a:xfrm rot="0">
            <a:off x="1359684" y="1547070"/>
            <a:ext cx="9836144" cy="995077"/>
            <a:chOff x="0" y="0"/>
            <a:chExt cx="13114858" cy="1326769"/>
          </a:xfrm>
        </p:grpSpPr>
        <p:sp>
          <p:nvSpPr>
            <p:cNvPr name="Freeform 4" id="4"/>
            <p:cNvSpPr/>
            <p:nvPr/>
          </p:nvSpPr>
          <p:spPr>
            <a:xfrm flipH="false" flipV="false" rot="0">
              <a:off x="0" y="0"/>
              <a:ext cx="13114854" cy="1326771"/>
            </a:xfrm>
            <a:custGeom>
              <a:avLst/>
              <a:gdLst/>
              <a:ahLst/>
              <a:cxnLst/>
              <a:rect r="r" b="b" t="t" l="l"/>
              <a:pathLst>
                <a:path h="1326771" w="13114854">
                  <a:moveTo>
                    <a:pt x="0" y="0"/>
                  </a:moveTo>
                  <a:lnTo>
                    <a:pt x="13114854" y="0"/>
                  </a:lnTo>
                  <a:lnTo>
                    <a:pt x="13114854" y="1326771"/>
                  </a:lnTo>
                  <a:lnTo>
                    <a:pt x="0" y="1326771"/>
                  </a:lnTo>
                  <a:close/>
                </a:path>
              </a:pathLst>
            </a:custGeom>
            <a:solidFill>
              <a:srgbClr val="000000">
                <a:alpha val="0"/>
              </a:srgbClr>
            </a:solidFill>
            <a:ln w="12700">
              <a:solidFill>
                <a:srgbClr val="000000"/>
              </a:solidFill>
            </a:ln>
          </p:spPr>
        </p:sp>
        <p:sp>
          <p:nvSpPr>
            <p:cNvPr name="TextBox 5" id="5"/>
            <p:cNvSpPr txBox="true"/>
            <p:nvPr/>
          </p:nvSpPr>
          <p:spPr>
            <a:xfrm>
              <a:off x="0" y="-19050"/>
              <a:ext cx="13114858" cy="1345819"/>
            </a:xfrm>
            <a:prstGeom prst="rect">
              <a:avLst/>
            </a:prstGeom>
          </p:spPr>
          <p:txBody>
            <a:bodyPr anchor="b" rtlCol="false" tIns="0" lIns="0" bIns="0" rIns="0"/>
            <a:lstStyle/>
            <a:p>
              <a:pPr algn="l">
                <a:lnSpc>
                  <a:spcPts val="3887"/>
                </a:lnSpc>
              </a:pPr>
              <a:r>
                <a:rPr lang="en-US" sz="3240">
                  <a:solidFill>
                    <a:srgbClr val="EFEFEF"/>
                  </a:solidFill>
                  <a:latin typeface="Arimo"/>
                  <a:ea typeface="Arimo"/>
                  <a:cs typeface="Arimo"/>
                  <a:sym typeface="Arimo"/>
                </a:rPr>
                <a:t>Overview of full stack development</a:t>
              </a:r>
            </a:p>
          </p:txBody>
        </p:sp>
      </p:grpSp>
      <p:grpSp>
        <p:nvGrpSpPr>
          <p:cNvPr name="Group 6" id="6"/>
          <p:cNvGrpSpPr/>
          <p:nvPr/>
        </p:nvGrpSpPr>
        <p:grpSpPr>
          <a:xfrm rot="0">
            <a:off x="1000944" y="4073919"/>
            <a:ext cx="10553624" cy="3975183"/>
            <a:chOff x="0" y="0"/>
            <a:chExt cx="14071498" cy="5300243"/>
          </a:xfrm>
        </p:grpSpPr>
        <p:sp>
          <p:nvSpPr>
            <p:cNvPr name="Freeform 7" id="7"/>
            <p:cNvSpPr/>
            <p:nvPr/>
          </p:nvSpPr>
          <p:spPr>
            <a:xfrm flipH="false" flipV="false" rot="0">
              <a:off x="0" y="0"/>
              <a:ext cx="14071504" cy="5300245"/>
            </a:xfrm>
            <a:custGeom>
              <a:avLst/>
              <a:gdLst/>
              <a:ahLst/>
              <a:cxnLst/>
              <a:rect r="r" b="b" t="t" l="l"/>
              <a:pathLst>
                <a:path h="5300245" w="14071504">
                  <a:moveTo>
                    <a:pt x="0" y="0"/>
                  </a:moveTo>
                  <a:lnTo>
                    <a:pt x="14071504" y="0"/>
                  </a:lnTo>
                  <a:lnTo>
                    <a:pt x="14071504" y="5300245"/>
                  </a:lnTo>
                  <a:lnTo>
                    <a:pt x="0" y="5300245"/>
                  </a:lnTo>
                  <a:close/>
                </a:path>
              </a:pathLst>
            </a:custGeom>
            <a:solidFill>
              <a:srgbClr val="000000">
                <a:alpha val="0"/>
              </a:srgbClr>
            </a:solidFill>
            <a:ln w="12700">
              <a:solidFill>
                <a:srgbClr val="000000"/>
              </a:solidFill>
            </a:ln>
          </p:spPr>
        </p:sp>
        <p:sp>
          <p:nvSpPr>
            <p:cNvPr name="TextBox 8" id="8"/>
            <p:cNvSpPr txBox="true"/>
            <p:nvPr/>
          </p:nvSpPr>
          <p:spPr>
            <a:xfrm>
              <a:off x="0" y="-257175"/>
              <a:ext cx="14071498" cy="5557418"/>
            </a:xfrm>
            <a:prstGeom prst="rect">
              <a:avLst/>
            </a:prstGeom>
          </p:spPr>
          <p:txBody>
            <a:bodyPr anchor="b" rtlCol="false" tIns="0" lIns="0" bIns="0" rIns="0"/>
            <a:lstStyle/>
            <a:p>
              <a:pPr algn="just">
                <a:lnSpc>
                  <a:spcPts val="5100"/>
                </a:lnSpc>
              </a:pPr>
              <a:r>
                <a:rPr lang="en-US" sz="2039" spc="72">
                  <a:solidFill>
                    <a:srgbClr val="EFEFEF"/>
                  </a:solidFill>
                  <a:latin typeface="Vollkorn"/>
                  <a:ea typeface="Vollkorn"/>
                  <a:cs typeface="Vollkorn"/>
                  <a:sym typeface="Vollkorn"/>
                </a:rPr>
                <a:t>Full stack development encompasses both frontend and backend technologies to build complete web applications. It involves designing user interfaces, developing server-side logic, and managing databases. This approach enables developers to create seamless and functional software, bridging user experience with data management and application logic.</a:t>
              </a:r>
            </a:p>
          </p:txBody>
        </p:sp>
      </p:grpSp>
      <p:sp>
        <p:nvSpPr>
          <p:cNvPr name="Freeform 9" id="9"/>
          <p:cNvSpPr/>
          <p:nvPr/>
        </p:nvSpPr>
        <p:spPr>
          <a:xfrm flipH="false" flipV="false" rot="0">
            <a:off x="12363631" y="2934424"/>
            <a:ext cx="5151215" cy="5293671"/>
          </a:xfrm>
          <a:custGeom>
            <a:avLst/>
            <a:gdLst/>
            <a:ahLst/>
            <a:cxnLst/>
            <a:rect r="r" b="b" t="t" l="l"/>
            <a:pathLst>
              <a:path h="5293671" w="5151215">
                <a:moveTo>
                  <a:pt x="0" y="0"/>
                </a:moveTo>
                <a:lnTo>
                  <a:pt x="5151215" y="0"/>
                </a:lnTo>
                <a:lnTo>
                  <a:pt x="5151215" y="5293671"/>
                </a:lnTo>
                <a:lnTo>
                  <a:pt x="0" y="5293671"/>
                </a:lnTo>
                <a:lnTo>
                  <a:pt x="0" y="0"/>
                </a:lnTo>
                <a:close/>
              </a:path>
            </a:pathLst>
          </a:custGeom>
          <a:blipFill>
            <a:blip r:embed="rId3"/>
            <a:stretch>
              <a:fillRect l="-1989" t="0" r="-1979" b="-42830"/>
            </a:stretch>
          </a:blipFill>
        </p:spPr>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0A0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10286638"/>
          </a:xfrm>
          <a:custGeom>
            <a:avLst/>
            <a:gdLst/>
            <a:ahLst/>
            <a:cxnLst/>
            <a:rect r="r" b="b" t="t" l="l"/>
            <a:pathLst>
              <a:path h="10286638" w="18287276">
                <a:moveTo>
                  <a:pt x="0" y="0"/>
                </a:moveTo>
                <a:lnTo>
                  <a:pt x="18287276" y="0"/>
                </a:lnTo>
                <a:lnTo>
                  <a:pt x="18287276" y="10286638"/>
                </a:lnTo>
                <a:lnTo>
                  <a:pt x="0" y="10286638"/>
                </a:lnTo>
                <a:lnTo>
                  <a:pt x="0" y="0"/>
                </a:lnTo>
                <a:close/>
              </a:path>
            </a:pathLst>
          </a:custGeom>
          <a:blipFill>
            <a:blip r:embed="rId2"/>
            <a:stretch>
              <a:fillRect l="0" t="0" r="0" b="0"/>
            </a:stretch>
          </a:blipFill>
        </p:spPr>
      </p:sp>
      <p:sp>
        <p:nvSpPr>
          <p:cNvPr name="Freeform 3" id="3"/>
          <p:cNvSpPr/>
          <p:nvPr/>
        </p:nvSpPr>
        <p:spPr>
          <a:xfrm flipH="false" flipV="false" rot="0">
            <a:off x="14185440" y="0"/>
            <a:ext cx="4101836" cy="10286638"/>
          </a:xfrm>
          <a:custGeom>
            <a:avLst/>
            <a:gdLst/>
            <a:ahLst/>
            <a:cxnLst/>
            <a:rect r="r" b="b" t="t" l="l"/>
            <a:pathLst>
              <a:path h="10286638" w="4101836">
                <a:moveTo>
                  <a:pt x="0" y="0"/>
                </a:moveTo>
                <a:lnTo>
                  <a:pt x="4101836" y="0"/>
                </a:lnTo>
                <a:lnTo>
                  <a:pt x="4101836" y="10286638"/>
                </a:lnTo>
                <a:lnTo>
                  <a:pt x="0" y="10286638"/>
                </a:lnTo>
                <a:lnTo>
                  <a:pt x="0" y="0"/>
                </a:lnTo>
                <a:close/>
              </a:path>
            </a:pathLst>
          </a:custGeom>
          <a:blipFill>
            <a:blip r:embed="rId3">
              <a:alphaModFix amt="90000"/>
            </a:blip>
            <a:stretch>
              <a:fillRect l="-310763" t="0" r="-35069" b="0"/>
            </a:stretch>
          </a:blipFill>
        </p:spPr>
      </p:sp>
      <p:grpSp>
        <p:nvGrpSpPr>
          <p:cNvPr name="Group 4" id="4"/>
          <p:cNvGrpSpPr/>
          <p:nvPr/>
        </p:nvGrpSpPr>
        <p:grpSpPr>
          <a:xfrm rot="0">
            <a:off x="3715217" y="1784509"/>
            <a:ext cx="8642194" cy="1023376"/>
            <a:chOff x="0" y="0"/>
            <a:chExt cx="11522926" cy="1364501"/>
          </a:xfrm>
        </p:grpSpPr>
        <p:sp>
          <p:nvSpPr>
            <p:cNvPr name="Freeform 5" id="5"/>
            <p:cNvSpPr/>
            <p:nvPr/>
          </p:nvSpPr>
          <p:spPr>
            <a:xfrm flipH="false" flipV="false" rot="0">
              <a:off x="0" y="0"/>
              <a:ext cx="11522928" cy="1364504"/>
            </a:xfrm>
            <a:custGeom>
              <a:avLst/>
              <a:gdLst/>
              <a:ahLst/>
              <a:cxnLst/>
              <a:rect r="r" b="b" t="t" l="l"/>
              <a:pathLst>
                <a:path h="1364504" w="11522928">
                  <a:moveTo>
                    <a:pt x="0" y="0"/>
                  </a:moveTo>
                  <a:lnTo>
                    <a:pt x="11522928" y="0"/>
                  </a:lnTo>
                  <a:lnTo>
                    <a:pt x="11522928" y="1364504"/>
                  </a:lnTo>
                  <a:lnTo>
                    <a:pt x="0" y="1364504"/>
                  </a:lnTo>
                  <a:close/>
                </a:path>
              </a:pathLst>
            </a:custGeom>
            <a:solidFill>
              <a:srgbClr val="000000">
                <a:alpha val="0"/>
              </a:srgbClr>
            </a:solidFill>
            <a:ln w="12700">
              <a:solidFill>
                <a:srgbClr val="000000"/>
              </a:solidFill>
            </a:ln>
          </p:spPr>
        </p:sp>
        <p:sp>
          <p:nvSpPr>
            <p:cNvPr name="TextBox 6" id="6"/>
            <p:cNvSpPr txBox="true"/>
            <p:nvPr/>
          </p:nvSpPr>
          <p:spPr>
            <a:xfrm>
              <a:off x="0" y="-19050"/>
              <a:ext cx="11522926" cy="1383551"/>
            </a:xfrm>
            <a:prstGeom prst="rect">
              <a:avLst/>
            </a:prstGeom>
          </p:spPr>
          <p:txBody>
            <a:bodyPr anchor="b" rtlCol="false" tIns="0" lIns="0" bIns="0" rIns="0"/>
            <a:lstStyle/>
            <a:p>
              <a:pPr algn="l">
                <a:lnSpc>
                  <a:spcPts val="3887"/>
                </a:lnSpc>
              </a:pPr>
              <a:r>
                <a:rPr lang="en-US" sz="3240">
                  <a:solidFill>
                    <a:srgbClr val="EFEFEF"/>
                  </a:solidFill>
                  <a:latin typeface="Arimo"/>
                  <a:ea typeface="Arimo"/>
                  <a:cs typeface="Arimo"/>
                  <a:sym typeface="Arimo"/>
                </a:rPr>
                <a:t>Technologies used in full stack</a:t>
              </a:r>
            </a:p>
          </p:txBody>
        </p:sp>
      </p:grpSp>
      <p:sp>
        <p:nvSpPr>
          <p:cNvPr name="TextBox 7" id="7"/>
          <p:cNvSpPr txBox="true"/>
          <p:nvPr/>
        </p:nvSpPr>
        <p:spPr>
          <a:xfrm rot="0">
            <a:off x="2277085" y="3738991"/>
            <a:ext cx="11518468" cy="4672060"/>
          </a:xfrm>
          <a:prstGeom prst="rect">
            <a:avLst/>
          </a:prstGeom>
        </p:spPr>
        <p:txBody>
          <a:bodyPr anchor="t" rtlCol="false" tIns="0" lIns="0" bIns="0" rIns="0">
            <a:spAutoFit/>
          </a:bodyPr>
          <a:lstStyle/>
          <a:p>
            <a:pPr algn="just">
              <a:lnSpc>
                <a:spcPts val="5550"/>
              </a:lnSpc>
            </a:pPr>
            <a:r>
              <a:rPr lang="en-US" sz="2220" spc="78">
                <a:solidFill>
                  <a:srgbClr val="EFEFEF"/>
                </a:solidFill>
                <a:latin typeface="Vollkorn"/>
                <a:ea typeface="Vollkorn"/>
                <a:cs typeface="Vollkorn"/>
                <a:sym typeface="Vollkorn"/>
              </a:rPr>
              <a:t>The commonly used technologies include HTML, CSS, and JavaScript for frontend development, while backend development may use various frameworks and languages. Database management systems are essential for storing and retrieving application data. Development tools and IDEs support efficient coding, testing, and deployment of the application. This combination ensures robust and responsive web solutions.</a:t>
            </a:r>
          </a:p>
        </p:txBody>
      </p:sp>
      <p:sp>
        <p:nvSpPr>
          <p:cNvPr name="AutoShape 8" id="8"/>
          <p:cNvSpPr/>
          <p:nvPr/>
        </p:nvSpPr>
        <p:spPr>
          <a:xfrm rot="10795680">
            <a:off x="-438779" y="9704680"/>
            <a:ext cx="15726585" cy="0"/>
          </a:xfrm>
          <a:prstGeom prst="line">
            <a:avLst/>
          </a:prstGeom>
          <a:ln cap="rnd" w="9525">
            <a:solidFill>
              <a:srgbClr val="EFEFEF"/>
            </a:solidFill>
            <a:prstDash val="solid"/>
            <a:headEnd type="oval" len="lg" w="lg"/>
            <a:tailEnd type="none" len="sm" w="sm"/>
          </a:ln>
        </p:spPr>
      </p:sp>
      <p:sp>
        <p:nvSpPr>
          <p:cNvPr name="AutoShape 9" id="9"/>
          <p:cNvSpPr/>
          <p:nvPr/>
        </p:nvSpPr>
        <p:spPr>
          <a:xfrm rot="10795680">
            <a:off x="-788184" y="9385011"/>
            <a:ext cx="15726585" cy="0"/>
          </a:xfrm>
          <a:prstGeom prst="line">
            <a:avLst/>
          </a:prstGeom>
          <a:ln cap="rnd" w="9525">
            <a:solidFill>
              <a:srgbClr val="EFEFEF"/>
            </a:solidFill>
            <a:prstDash val="solid"/>
            <a:headEnd type="oval" len="lg" w="lg"/>
            <a:tailEnd type="none" len="sm" w="sm"/>
          </a:ln>
        </p:spPr>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0A0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10286638"/>
          </a:xfrm>
          <a:custGeom>
            <a:avLst/>
            <a:gdLst/>
            <a:ahLst/>
            <a:cxnLst/>
            <a:rect r="r" b="b" t="t" l="l"/>
            <a:pathLst>
              <a:path h="10286638" w="18287276">
                <a:moveTo>
                  <a:pt x="0" y="0"/>
                </a:moveTo>
                <a:lnTo>
                  <a:pt x="18287276" y="0"/>
                </a:lnTo>
                <a:lnTo>
                  <a:pt x="18287276" y="10286638"/>
                </a:lnTo>
                <a:lnTo>
                  <a:pt x="0" y="10286638"/>
                </a:lnTo>
                <a:lnTo>
                  <a:pt x="0" y="0"/>
                </a:lnTo>
                <a:close/>
              </a:path>
            </a:pathLst>
          </a:custGeom>
          <a:blipFill>
            <a:blip r:embed="rId2"/>
            <a:stretch>
              <a:fillRect l="0" t="0" r="0" b="0"/>
            </a:stretch>
          </a:blipFill>
        </p:spPr>
      </p:sp>
      <p:sp>
        <p:nvSpPr>
          <p:cNvPr name="Freeform 3" id="3"/>
          <p:cNvSpPr/>
          <p:nvPr/>
        </p:nvSpPr>
        <p:spPr>
          <a:xfrm flipH="false" flipV="false" rot="0">
            <a:off x="14185440" y="0"/>
            <a:ext cx="4101836" cy="10286638"/>
          </a:xfrm>
          <a:custGeom>
            <a:avLst/>
            <a:gdLst/>
            <a:ahLst/>
            <a:cxnLst/>
            <a:rect r="r" b="b" t="t" l="l"/>
            <a:pathLst>
              <a:path h="10286638" w="4101836">
                <a:moveTo>
                  <a:pt x="0" y="0"/>
                </a:moveTo>
                <a:lnTo>
                  <a:pt x="4101836" y="0"/>
                </a:lnTo>
                <a:lnTo>
                  <a:pt x="4101836" y="10286638"/>
                </a:lnTo>
                <a:lnTo>
                  <a:pt x="0" y="10286638"/>
                </a:lnTo>
                <a:lnTo>
                  <a:pt x="0" y="0"/>
                </a:lnTo>
                <a:close/>
              </a:path>
            </a:pathLst>
          </a:custGeom>
          <a:blipFill>
            <a:blip r:embed="rId3">
              <a:alphaModFix amt="90000"/>
            </a:blip>
            <a:stretch>
              <a:fillRect l="-310763" t="0" r="-35069" b="0"/>
            </a:stretch>
          </a:blipFill>
        </p:spPr>
      </p:sp>
      <p:grpSp>
        <p:nvGrpSpPr>
          <p:cNvPr name="Group 4" id="4"/>
          <p:cNvGrpSpPr/>
          <p:nvPr/>
        </p:nvGrpSpPr>
        <p:grpSpPr>
          <a:xfrm rot="0">
            <a:off x="3297041" y="1147020"/>
            <a:ext cx="8686800" cy="992924"/>
            <a:chOff x="0" y="0"/>
            <a:chExt cx="11582400" cy="1323899"/>
          </a:xfrm>
        </p:grpSpPr>
        <p:sp>
          <p:nvSpPr>
            <p:cNvPr name="Freeform 5" id="5"/>
            <p:cNvSpPr/>
            <p:nvPr/>
          </p:nvSpPr>
          <p:spPr>
            <a:xfrm flipH="false" flipV="false" rot="0">
              <a:off x="0" y="0"/>
              <a:ext cx="11582400" cy="1323893"/>
            </a:xfrm>
            <a:custGeom>
              <a:avLst/>
              <a:gdLst/>
              <a:ahLst/>
              <a:cxnLst/>
              <a:rect r="r" b="b" t="t" l="l"/>
              <a:pathLst>
                <a:path h="1323893" w="11582400">
                  <a:moveTo>
                    <a:pt x="0" y="0"/>
                  </a:moveTo>
                  <a:lnTo>
                    <a:pt x="11582400" y="0"/>
                  </a:lnTo>
                  <a:lnTo>
                    <a:pt x="11582400" y="1323893"/>
                  </a:lnTo>
                  <a:lnTo>
                    <a:pt x="0" y="1323893"/>
                  </a:lnTo>
                  <a:close/>
                </a:path>
              </a:pathLst>
            </a:custGeom>
            <a:solidFill>
              <a:srgbClr val="000000">
                <a:alpha val="0"/>
              </a:srgbClr>
            </a:solidFill>
            <a:ln w="12700">
              <a:solidFill>
                <a:srgbClr val="000000"/>
              </a:solidFill>
            </a:ln>
          </p:spPr>
        </p:sp>
        <p:sp>
          <p:nvSpPr>
            <p:cNvPr name="TextBox 6" id="6"/>
            <p:cNvSpPr txBox="true"/>
            <p:nvPr/>
          </p:nvSpPr>
          <p:spPr>
            <a:xfrm>
              <a:off x="0" y="-19050"/>
              <a:ext cx="11582400" cy="1342949"/>
            </a:xfrm>
            <a:prstGeom prst="rect">
              <a:avLst/>
            </a:prstGeom>
          </p:spPr>
          <p:txBody>
            <a:bodyPr anchor="b" rtlCol="false" tIns="0" lIns="0" bIns="0" rIns="0"/>
            <a:lstStyle/>
            <a:p>
              <a:pPr algn="l">
                <a:lnSpc>
                  <a:spcPts val="3887"/>
                </a:lnSpc>
              </a:pPr>
              <a:r>
                <a:rPr lang="en-US" sz="3240">
                  <a:solidFill>
                    <a:srgbClr val="EFEFEF"/>
                  </a:solidFill>
                  <a:latin typeface="Arimo"/>
                  <a:ea typeface="Arimo"/>
                  <a:cs typeface="Arimo"/>
                  <a:sym typeface="Arimo"/>
                </a:rPr>
                <a:t>Importance in web applications</a:t>
              </a:r>
            </a:p>
          </p:txBody>
        </p:sp>
      </p:grpSp>
      <p:sp>
        <p:nvSpPr>
          <p:cNvPr name="TextBox 7" id="7"/>
          <p:cNvSpPr txBox="true"/>
          <p:nvPr/>
        </p:nvSpPr>
        <p:spPr>
          <a:xfrm rot="0">
            <a:off x="931488" y="3248282"/>
            <a:ext cx="13417925" cy="4645904"/>
          </a:xfrm>
          <a:prstGeom prst="rect">
            <a:avLst/>
          </a:prstGeom>
        </p:spPr>
        <p:txBody>
          <a:bodyPr anchor="t" rtlCol="false" tIns="0" lIns="0" bIns="0" rIns="0">
            <a:spAutoFit/>
          </a:bodyPr>
          <a:lstStyle/>
          <a:p>
            <a:pPr algn="just">
              <a:lnSpc>
                <a:spcPts val="5550"/>
              </a:lnSpc>
            </a:pPr>
            <a:r>
              <a:rPr lang="en-US" sz="2220" spc="78">
                <a:solidFill>
                  <a:srgbClr val="EFEFEF"/>
                </a:solidFill>
                <a:latin typeface="Vollkorn"/>
                <a:ea typeface="Vollkorn"/>
                <a:cs typeface="Vollkorn"/>
                <a:sym typeface="Vollkorn"/>
              </a:rPr>
              <a:t>Full stack development is vital for creating comprehensive web applications that manage both client-side and server-side processes. It ensures seamless integration of user interfaces with backend functionalities and databases, resulting in efficient and responsive applications. This holistic approach allows for faster development cycles, better maintenance, and improved user experience in modern web solutions.</a:t>
            </a:r>
          </a:p>
        </p:txBody>
      </p:sp>
      <p:sp>
        <p:nvSpPr>
          <p:cNvPr name="AutoShape 8" id="8"/>
          <p:cNvSpPr/>
          <p:nvPr/>
        </p:nvSpPr>
        <p:spPr>
          <a:xfrm rot="10795680">
            <a:off x="-810492" y="9825038"/>
            <a:ext cx="15726585" cy="0"/>
          </a:xfrm>
          <a:prstGeom prst="line">
            <a:avLst/>
          </a:prstGeom>
          <a:ln cap="rnd" w="9525">
            <a:solidFill>
              <a:srgbClr val="EFEFEF"/>
            </a:solidFill>
            <a:prstDash val="solid"/>
            <a:headEnd type="oval" len="lg" w="lg"/>
            <a:tailEnd type="none" len="sm" w="sm"/>
          </a:ln>
        </p:spPr>
      </p:sp>
      <p:sp>
        <p:nvSpPr>
          <p:cNvPr name="AutoShape 9" id="9"/>
          <p:cNvSpPr/>
          <p:nvPr/>
        </p:nvSpPr>
        <p:spPr>
          <a:xfrm rot="10795680">
            <a:off x="-438779" y="9541126"/>
            <a:ext cx="15726585" cy="0"/>
          </a:xfrm>
          <a:prstGeom prst="line">
            <a:avLst/>
          </a:prstGeom>
          <a:ln cap="rnd" w="9525">
            <a:solidFill>
              <a:srgbClr val="EFEFEF"/>
            </a:solidFill>
            <a:prstDash val="solid"/>
            <a:headEnd type="oval" len="lg" w="lg"/>
            <a:tailEnd type="none" len="sm" w="sm"/>
          </a:ln>
        </p:spPr>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0A0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10286638"/>
          </a:xfrm>
          <a:custGeom>
            <a:avLst/>
            <a:gdLst/>
            <a:ahLst/>
            <a:cxnLst/>
            <a:rect r="r" b="b" t="t" l="l"/>
            <a:pathLst>
              <a:path h="10286638" w="18287276">
                <a:moveTo>
                  <a:pt x="0" y="0"/>
                </a:moveTo>
                <a:lnTo>
                  <a:pt x="18287276" y="0"/>
                </a:lnTo>
                <a:lnTo>
                  <a:pt x="18287276" y="10286638"/>
                </a:lnTo>
                <a:lnTo>
                  <a:pt x="0" y="10286638"/>
                </a:lnTo>
                <a:lnTo>
                  <a:pt x="0" y="0"/>
                </a:lnTo>
                <a:close/>
              </a:path>
            </a:pathLst>
          </a:custGeom>
          <a:blipFill>
            <a:blip r:embed="rId2"/>
            <a:stretch>
              <a:fillRect l="0" t="0" r="0" b="0"/>
            </a:stretch>
          </a:blipFill>
        </p:spPr>
      </p:sp>
      <p:sp>
        <p:nvSpPr>
          <p:cNvPr name="Freeform 3" id="3"/>
          <p:cNvSpPr/>
          <p:nvPr/>
        </p:nvSpPr>
        <p:spPr>
          <a:xfrm flipH="false" flipV="false" rot="0">
            <a:off x="14185440" y="0"/>
            <a:ext cx="4101836" cy="10286638"/>
          </a:xfrm>
          <a:custGeom>
            <a:avLst/>
            <a:gdLst/>
            <a:ahLst/>
            <a:cxnLst/>
            <a:rect r="r" b="b" t="t" l="l"/>
            <a:pathLst>
              <a:path h="10286638" w="4101836">
                <a:moveTo>
                  <a:pt x="0" y="0"/>
                </a:moveTo>
                <a:lnTo>
                  <a:pt x="4101836" y="0"/>
                </a:lnTo>
                <a:lnTo>
                  <a:pt x="4101836" y="10286638"/>
                </a:lnTo>
                <a:lnTo>
                  <a:pt x="0" y="10286638"/>
                </a:lnTo>
                <a:lnTo>
                  <a:pt x="0" y="0"/>
                </a:lnTo>
                <a:close/>
              </a:path>
            </a:pathLst>
          </a:custGeom>
          <a:blipFill>
            <a:blip r:embed="rId3">
              <a:alphaModFix amt="90000"/>
            </a:blip>
            <a:stretch>
              <a:fillRect l="-310763" t="0" r="-35069" b="0"/>
            </a:stretch>
          </a:blipFill>
        </p:spPr>
      </p:sp>
      <p:grpSp>
        <p:nvGrpSpPr>
          <p:cNvPr name="Group 4" id="4"/>
          <p:cNvGrpSpPr/>
          <p:nvPr/>
        </p:nvGrpSpPr>
        <p:grpSpPr>
          <a:xfrm rot="0">
            <a:off x="457200" y="4476055"/>
            <a:ext cx="13786628" cy="1334891"/>
            <a:chOff x="0" y="0"/>
            <a:chExt cx="18382170" cy="1779854"/>
          </a:xfrm>
        </p:grpSpPr>
        <p:sp>
          <p:nvSpPr>
            <p:cNvPr name="Freeform 5" id="5"/>
            <p:cNvSpPr/>
            <p:nvPr/>
          </p:nvSpPr>
          <p:spPr>
            <a:xfrm flipH="false" flipV="false" rot="0">
              <a:off x="0" y="0"/>
              <a:ext cx="18382168" cy="1779856"/>
            </a:xfrm>
            <a:custGeom>
              <a:avLst/>
              <a:gdLst/>
              <a:ahLst/>
              <a:cxnLst/>
              <a:rect r="r" b="b" t="t" l="l"/>
              <a:pathLst>
                <a:path h="1779856" w="18382168">
                  <a:moveTo>
                    <a:pt x="0" y="0"/>
                  </a:moveTo>
                  <a:lnTo>
                    <a:pt x="18382168" y="0"/>
                  </a:lnTo>
                  <a:lnTo>
                    <a:pt x="18382168" y="1779856"/>
                  </a:lnTo>
                  <a:lnTo>
                    <a:pt x="0" y="1779856"/>
                  </a:lnTo>
                  <a:close/>
                </a:path>
              </a:pathLst>
            </a:custGeom>
            <a:solidFill>
              <a:srgbClr val="000000">
                <a:alpha val="0"/>
              </a:srgbClr>
            </a:solidFill>
            <a:ln w="12700">
              <a:solidFill>
                <a:srgbClr val="000000"/>
              </a:solidFill>
            </a:ln>
          </p:spPr>
        </p:sp>
        <p:sp>
          <p:nvSpPr>
            <p:cNvPr name="TextBox 6" id="6"/>
            <p:cNvSpPr txBox="true"/>
            <p:nvPr/>
          </p:nvSpPr>
          <p:spPr>
            <a:xfrm>
              <a:off x="0" y="-28575"/>
              <a:ext cx="18382170" cy="1808429"/>
            </a:xfrm>
            <a:prstGeom prst="rect">
              <a:avLst/>
            </a:prstGeom>
          </p:spPr>
          <p:txBody>
            <a:bodyPr anchor="b" rtlCol="false" tIns="0" lIns="0" bIns="0" rIns="0"/>
            <a:lstStyle/>
            <a:p>
              <a:pPr algn="l">
                <a:lnSpc>
                  <a:spcPts val="4320"/>
                </a:lnSpc>
              </a:pPr>
              <a:r>
                <a:rPr lang="en-US" sz="3600">
                  <a:solidFill>
                    <a:srgbClr val="EFEFEF"/>
                  </a:solidFill>
                  <a:latin typeface="Arimo"/>
                  <a:ea typeface="Arimo"/>
                  <a:cs typeface="Arimo"/>
                  <a:sym typeface="Arimo"/>
                </a:rPr>
                <a:t>Online Internship Application Website Project</a:t>
              </a:r>
            </a:p>
          </p:txBody>
        </p:sp>
      </p:grpSp>
      <p:sp>
        <p:nvSpPr>
          <p:cNvPr name="AutoShape 7" id="7"/>
          <p:cNvSpPr/>
          <p:nvPr/>
        </p:nvSpPr>
        <p:spPr>
          <a:xfrm rot="10795680">
            <a:off x="-1473232" y="755380"/>
            <a:ext cx="15726585" cy="0"/>
          </a:xfrm>
          <a:prstGeom prst="line">
            <a:avLst/>
          </a:prstGeom>
          <a:ln cap="rnd" w="9525">
            <a:solidFill>
              <a:srgbClr val="EFEFEF"/>
            </a:solidFill>
            <a:prstDash val="solid"/>
            <a:headEnd type="oval" len="lg" w="lg"/>
            <a:tailEnd type="none" len="sm" w="sm"/>
          </a:ln>
        </p:spPr>
      </p:sp>
      <p:sp>
        <p:nvSpPr>
          <p:cNvPr name="AutoShape 8" id="8"/>
          <p:cNvSpPr/>
          <p:nvPr/>
        </p:nvSpPr>
        <p:spPr>
          <a:xfrm rot="10795680">
            <a:off x="-1970218" y="1125674"/>
            <a:ext cx="15726585" cy="0"/>
          </a:xfrm>
          <a:prstGeom prst="line">
            <a:avLst/>
          </a:prstGeom>
          <a:ln cap="rnd" w="9525">
            <a:solidFill>
              <a:srgbClr val="EFEFEF"/>
            </a:solidFill>
            <a:prstDash val="solid"/>
            <a:headEnd type="oval" len="lg" w="lg"/>
            <a:tailEnd type="none" len="sm" w="sm"/>
          </a:ln>
        </p:spPr>
      </p:sp>
      <p:sp>
        <p:nvSpPr>
          <p:cNvPr name="AutoShape 9" id="9"/>
          <p:cNvSpPr/>
          <p:nvPr/>
        </p:nvSpPr>
        <p:spPr>
          <a:xfrm rot="10795680">
            <a:off x="-2579818" y="1495968"/>
            <a:ext cx="15726585" cy="0"/>
          </a:xfrm>
          <a:prstGeom prst="line">
            <a:avLst/>
          </a:prstGeom>
          <a:ln cap="rnd" w="9525">
            <a:solidFill>
              <a:srgbClr val="EFEFEF"/>
            </a:solidFill>
            <a:prstDash val="solid"/>
            <a:headEnd type="oval" len="lg" w="lg"/>
            <a:tailEnd type="none" len="sm" w="sm"/>
          </a:ln>
        </p:spPr>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0A0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10286638"/>
          </a:xfrm>
          <a:custGeom>
            <a:avLst/>
            <a:gdLst/>
            <a:ahLst/>
            <a:cxnLst/>
            <a:rect r="r" b="b" t="t" l="l"/>
            <a:pathLst>
              <a:path h="10286638" w="18287276">
                <a:moveTo>
                  <a:pt x="0" y="0"/>
                </a:moveTo>
                <a:lnTo>
                  <a:pt x="18287276" y="0"/>
                </a:lnTo>
                <a:lnTo>
                  <a:pt x="18287276" y="10286638"/>
                </a:lnTo>
                <a:lnTo>
                  <a:pt x="0" y="10286638"/>
                </a:lnTo>
                <a:lnTo>
                  <a:pt x="0" y="0"/>
                </a:lnTo>
                <a:close/>
              </a:path>
            </a:pathLst>
          </a:custGeom>
          <a:blipFill>
            <a:blip r:embed="rId2"/>
            <a:stretch>
              <a:fillRect l="0" t="0" r="0" b="0"/>
            </a:stretch>
          </a:blipFill>
        </p:spPr>
      </p:sp>
      <p:sp>
        <p:nvSpPr>
          <p:cNvPr name="Freeform 3" id="3"/>
          <p:cNvSpPr/>
          <p:nvPr/>
        </p:nvSpPr>
        <p:spPr>
          <a:xfrm flipH="false" flipV="false" rot="0">
            <a:off x="14185440" y="0"/>
            <a:ext cx="4101836" cy="10286638"/>
          </a:xfrm>
          <a:custGeom>
            <a:avLst/>
            <a:gdLst/>
            <a:ahLst/>
            <a:cxnLst/>
            <a:rect r="r" b="b" t="t" l="l"/>
            <a:pathLst>
              <a:path h="10286638" w="4101836">
                <a:moveTo>
                  <a:pt x="0" y="0"/>
                </a:moveTo>
                <a:lnTo>
                  <a:pt x="4101836" y="0"/>
                </a:lnTo>
                <a:lnTo>
                  <a:pt x="4101836" y="10286638"/>
                </a:lnTo>
                <a:lnTo>
                  <a:pt x="0" y="10286638"/>
                </a:lnTo>
                <a:lnTo>
                  <a:pt x="0" y="0"/>
                </a:lnTo>
                <a:close/>
              </a:path>
            </a:pathLst>
          </a:custGeom>
          <a:blipFill>
            <a:blip r:embed="rId3">
              <a:alphaModFix amt="90000"/>
            </a:blip>
            <a:stretch>
              <a:fillRect l="-310763" t="0" r="-35069" b="0"/>
            </a:stretch>
          </a:blipFill>
        </p:spPr>
      </p:sp>
      <p:grpSp>
        <p:nvGrpSpPr>
          <p:cNvPr name="Group 4" id="4"/>
          <p:cNvGrpSpPr/>
          <p:nvPr/>
        </p:nvGrpSpPr>
        <p:grpSpPr>
          <a:xfrm rot="0">
            <a:off x="3133496" y="1754457"/>
            <a:ext cx="8850354" cy="906694"/>
            <a:chOff x="0" y="0"/>
            <a:chExt cx="11800472" cy="1208926"/>
          </a:xfrm>
        </p:grpSpPr>
        <p:sp>
          <p:nvSpPr>
            <p:cNvPr name="Freeform 5" id="5"/>
            <p:cNvSpPr/>
            <p:nvPr/>
          </p:nvSpPr>
          <p:spPr>
            <a:xfrm flipH="false" flipV="false" rot="0">
              <a:off x="0" y="0"/>
              <a:ext cx="11800467" cy="1208928"/>
            </a:xfrm>
            <a:custGeom>
              <a:avLst/>
              <a:gdLst/>
              <a:ahLst/>
              <a:cxnLst/>
              <a:rect r="r" b="b" t="t" l="l"/>
              <a:pathLst>
                <a:path h="1208928" w="11800467">
                  <a:moveTo>
                    <a:pt x="0" y="0"/>
                  </a:moveTo>
                  <a:lnTo>
                    <a:pt x="11800467" y="0"/>
                  </a:lnTo>
                  <a:lnTo>
                    <a:pt x="11800467" y="1208928"/>
                  </a:lnTo>
                  <a:lnTo>
                    <a:pt x="0" y="1208928"/>
                  </a:lnTo>
                  <a:close/>
                </a:path>
              </a:pathLst>
            </a:custGeom>
            <a:solidFill>
              <a:srgbClr val="000000">
                <a:alpha val="0"/>
              </a:srgbClr>
            </a:solidFill>
            <a:ln w="12700">
              <a:solidFill>
                <a:srgbClr val="000000"/>
              </a:solidFill>
            </a:ln>
          </p:spPr>
        </p:sp>
        <p:sp>
          <p:nvSpPr>
            <p:cNvPr name="TextBox 6" id="6"/>
            <p:cNvSpPr txBox="true"/>
            <p:nvPr/>
          </p:nvSpPr>
          <p:spPr>
            <a:xfrm>
              <a:off x="0" y="-19050"/>
              <a:ext cx="11800472" cy="1227976"/>
            </a:xfrm>
            <a:prstGeom prst="rect">
              <a:avLst/>
            </a:prstGeom>
          </p:spPr>
          <p:txBody>
            <a:bodyPr anchor="b" rtlCol="false" tIns="0" lIns="0" bIns="0" rIns="0"/>
            <a:lstStyle/>
            <a:p>
              <a:pPr algn="l">
                <a:lnSpc>
                  <a:spcPts val="3887"/>
                </a:lnSpc>
              </a:pPr>
              <a:r>
                <a:rPr lang="en-US" sz="3240">
                  <a:solidFill>
                    <a:srgbClr val="EFEFEF"/>
                  </a:solidFill>
                  <a:latin typeface="Arimo"/>
                  <a:ea typeface="Arimo"/>
                  <a:cs typeface="Arimo"/>
                  <a:sym typeface="Arimo"/>
                </a:rPr>
                <a:t>Project objectives and features</a:t>
              </a:r>
            </a:p>
          </p:txBody>
        </p:sp>
      </p:grpSp>
      <p:sp>
        <p:nvSpPr>
          <p:cNvPr name="TextBox 7" id="7"/>
          <p:cNvSpPr txBox="true"/>
          <p:nvPr/>
        </p:nvSpPr>
        <p:spPr>
          <a:xfrm rot="0">
            <a:off x="717842" y="2992279"/>
            <a:ext cx="13588879" cy="4404284"/>
          </a:xfrm>
          <a:prstGeom prst="rect">
            <a:avLst/>
          </a:prstGeom>
        </p:spPr>
        <p:txBody>
          <a:bodyPr anchor="t" rtlCol="false" tIns="0" lIns="0" bIns="0" rIns="0">
            <a:spAutoFit/>
          </a:bodyPr>
          <a:lstStyle/>
          <a:p>
            <a:pPr algn="just">
              <a:lnSpc>
                <a:spcPts val="6000"/>
              </a:lnSpc>
            </a:pPr>
            <a:r>
              <a:rPr lang="en-US" sz="2400" spc="85">
                <a:solidFill>
                  <a:srgbClr val="EFEFEF"/>
                </a:solidFill>
                <a:latin typeface="Vollkorn"/>
                <a:ea typeface="Vollkorn"/>
                <a:cs typeface="Vollkorn"/>
                <a:sym typeface="Vollkorn"/>
              </a:rPr>
              <a:t>The project aimed to develop a user-friendly website to facilitate internship applications and management. Key features include internship posting, user registration, application submission, and tracking. The goal was to streamline the interaction between students and organizations, making the application process efficient and transparent through a centralized platform.</a:t>
            </a:r>
          </a:p>
        </p:txBody>
      </p:sp>
      <p:sp>
        <p:nvSpPr>
          <p:cNvPr name="AutoShape 8" id="8"/>
          <p:cNvSpPr/>
          <p:nvPr/>
        </p:nvSpPr>
        <p:spPr>
          <a:xfrm rot="10795680">
            <a:off x="-9535" y="9881921"/>
            <a:ext cx="15726585" cy="0"/>
          </a:xfrm>
          <a:prstGeom prst="line">
            <a:avLst/>
          </a:prstGeom>
          <a:ln cap="rnd" w="9525">
            <a:solidFill>
              <a:srgbClr val="EFEFEF"/>
            </a:solidFill>
            <a:prstDash val="solid"/>
            <a:headEnd type="oval" len="lg" w="lg"/>
            <a:tailEnd type="none" len="sm" w="sm"/>
          </a:ln>
        </p:spPr>
      </p:sp>
      <p:sp>
        <p:nvSpPr>
          <p:cNvPr name="AutoShape 9" id="9"/>
          <p:cNvSpPr/>
          <p:nvPr/>
        </p:nvSpPr>
        <p:spPr>
          <a:xfrm rot="10795680">
            <a:off x="-351015" y="9570863"/>
            <a:ext cx="15726585" cy="0"/>
          </a:xfrm>
          <a:prstGeom prst="line">
            <a:avLst/>
          </a:prstGeom>
          <a:ln cap="rnd" w="9525">
            <a:solidFill>
              <a:srgbClr val="EFEFEF"/>
            </a:solidFill>
            <a:prstDash val="solid"/>
            <a:headEnd type="oval" len="lg" w="lg"/>
            <a:tailEnd type="none" len="sm" w="sm"/>
          </a:ln>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0A0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10286638"/>
          </a:xfrm>
          <a:custGeom>
            <a:avLst/>
            <a:gdLst/>
            <a:ahLst/>
            <a:cxnLst/>
            <a:rect r="r" b="b" t="t" l="l"/>
            <a:pathLst>
              <a:path h="10286638" w="18287276">
                <a:moveTo>
                  <a:pt x="0" y="0"/>
                </a:moveTo>
                <a:lnTo>
                  <a:pt x="18287276" y="0"/>
                </a:lnTo>
                <a:lnTo>
                  <a:pt x="18287276" y="10286638"/>
                </a:lnTo>
                <a:lnTo>
                  <a:pt x="0" y="10286638"/>
                </a:lnTo>
                <a:lnTo>
                  <a:pt x="0" y="0"/>
                </a:lnTo>
                <a:close/>
              </a:path>
            </a:pathLst>
          </a:custGeom>
          <a:blipFill>
            <a:blip r:embed="rId2"/>
            <a:stretch>
              <a:fillRect l="0" t="0" r="0" b="0"/>
            </a:stretch>
          </a:blipFill>
        </p:spPr>
      </p:sp>
      <p:sp>
        <p:nvSpPr>
          <p:cNvPr name="Freeform 3" id="3"/>
          <p:cNvSpPr/>
          <p:nvPr/>
        </p:nvSpPr>
        <p:spPr>
          <a:xfrm flipH="false" flipV="false" rot="0">
            <a:off x="14185440" y="0"/>
            <a:ext cx="4101836" cy="10286638"/>
          </a:xfrm>
          <a:custGeom>
            <a:avLst/>
            <a:gdLst/>
            <a:ahLst/>
            <a:cxnLst/>
            <a:rect r="r" b="b" t="t" l="l"/>
            <a:pathLst>
              <a:path h="10286638" w="4101836">
                <a:moveTo>
                  <a:pt x="0" y="0"/>
                </a:moveTo>
                <a:lnTo>
                  <a:pt x="4101836" y="0"/>
                </a:lnTo>
                <a:lnTo>
                  <a:pt x="4101836" y="10286638"/>
                </a:lnTo>
                <a:lnTo>
                  <a:pt x="0" y="10286638"/>
                </a:lnTo>
                <a:lnTo>
                  <a:pt x="0" y="0"/>
                </a:lnTo>
                <a:close/>
              </a:path>
            </a:pathLst>
          </a:custGeom>
          <a:blipFill>
            <a:blip r:embed="rId3">
              <a:alphaModFix amt="90000"/>
            </a:blip>
            <a:stretch>
              <a:fillRect l="-310763" t="0" r="-35069" b="0"/>
            </a:stretch>
          </a:blipFill>
        </p:spPr>
      </p:sp>
      <p:grpSp>
        <p:nvGrpSpPr>
          <p:cNvPr name="Group 4" id="4"/>
          <p:cNvGrpSpPr/>
          <p:nvPr/>
        </p:nvGrpSpPr>
        <p:grpSpPr>
          <a:xfrm rot="0">
            <a:off x="3787359" y="1694983"/>
            <a:ext cx="8969635" cy="908247"/>
            <a:chOff x="0" y="0"/>
            <a:chExt cx="11959514" cy="1210996"/>
          </a:xfrm>
        </p:grpSpPr>
        <p:sp>
          <p:nvSpPr>
            <p:cNvPr name="Freeform 5" id="5"/>
            <p:cNvSpPr/>
            <p:nvPr/>
          </p:nvSpPr>
          <p:spPr>
            <a:xfrm flipH="false" flipV="false" rot="0">
              <a:off x="0" y="0"/>
              <a:ext cx="11959520" cy="1211000"/>
            </a:xfrm>
            <a:custGeom>
              <a:avLst/>
              <a:gdLst/>
              <a:ahLst/>
              <a:cxnLst/>
              <a:rect r="r" b="b" t="t" l="l"/>
              <a:pathLst>
                <a:path h="1211000" w="11959520">
                  <a:moveTo>
                    <a:pt x="0" y="0"/>
                  </a:moveTo>
                  <a:lnTo>
                    <a:pt x="11959520" y="0"/>
                  </a:lnTo>
                  <a:lnTo>
                    <a:pt x="11959520" y="1211000"/>
                  </a:lnTo>
                  <a:lnTo>
                    <a:pt x="0" y="1211000"/>
                  </a:lnTo>
                  <a:close/>
                </a:path>
              </a:pathLst>
            </a:custGeom>
            <a:solidFill>
              <a:srgbClr val="000000">
                <a:alpha val="0"/>
              </a:srgbClr>
            </a:solidFill>
            <a:ln w="12700">
              <a:solidFill>
                <a:srgbClr val="000000"/>
              </a:solidFill>
            </a:ln>
          </p:spPr>
        </p:sp>
        <p:sp>
          <p:nvSpPr>
            <p:cNvPr name="TextBox 6" id="6"/>
            <p:cNvSpPr txBox="true"/>
            <p:nvPr/>
          </p:nvSpPr>
          <p:spPr>
            <a:xfrm>
              <a:off x="0" y="-19050"/>
              <a:ext cx="11959514" cy="1230046"/>
            </a:xfrm>
            <a:prstGeom prst="rect">
              <a:avLst/>
            </a:prstGeom>
          </p:spPr>
          <p:txBody>
            <a:bodyPr anchor="b" rtlCol="false" tIns="0" lIns="0" bIns="0" rIns="0"/>
            <a:lstStyle/>
            <a:p>
              <a:pPr algn="l">
                <a:lnSpc>
                  <a:spcPts val="3887"/>
                </a:lnSpc>
              </a:pPr>
              <a:r>
                <a:rPr lang="en-US" sz="3240">
                  <a:solidFill>
                    <a:srgbClr val="EFEFEF"/>
                  </a:solidFill>
                  <a:latin typeface="Arimo"/>
                  <a:ea typeface="Arimo"/>
                  <a:cs typeface="Arimo"/>
                  <a:sym typeface="Arimo"/>
                </a:rPr>
                <a:t>Design and development process</a:t>
              </a:r>
            </a:p>
          </p:txBody>
        </p:sp>
      </p:grpSp>
      <p:sp>
        <p:nvSpPr>
          <p:cNvPr name="TextBox 7" id="7"/>
          <p:cNvSpPr txBox="true"/>
          <p:nvPr/>
        </p:nvSpPr>
        <p:spPr>
          <a:xfrm rot="0">
            <a:off x="717842" y="2874588"/>
            <a:ext cx="13417925" cy="4674479"/>
          </a:xfrm>
          <a:prstGeom prst="rect">
            <a:avLst/>
          </a:prstGeom>
        </p:spPr>
        <p:txBody>
          <a:bodyPr anchor="t" rtlCol="false" tIns="0" lIns="0" bIns="0" rIns="0">
            <a:spAutoFit/>
          </a:bodyPr>
          <a:lstStyle/>
          <a:p>
            <a:pPr algn="just">
              <a:lnSpc>
                <a:spcPts val="6000"/>
              </a:lnSpc>
            </a:pPr>
            <a:r>
              <a:rPr lang="en-US" sz="2400" spc="85">
                <a:solidFill>
                  <a:srgbClr val="EFEFEF"/>
                </a:solidFill>
                <a:latin typeface="Vollkorn"/>
                <a:ea typeface="Vollkorn"/>
                <a:cs typeface="Vollkorn"/>
                <a:sym typeface="Vollkorn"/>
              </a:rPr>
              <a:t>The design focused on creating a responsive and accessible user interface using frontend technologies. Backend development handled authentication, application processing, and database management. The system was modularized into components like registration, login, listings, and application tracking, ensuring maintainability and scalability.</a:t>
            </a:r>
          </a:p>
        </p:txBody>
      </p:sp>
      <p:sp>
        <p:nvSpPr>
          <p:cNvPr name="AutoShape 8" id="8"/>
          <p:cNvSpPr/>
          <p:nvPr/>
        </p:nvSpPr>
        <p:spPr>
          <a:xfrm rot="10795680">
            <a:off x="-200892" y="9881921"/>
            <a:ext cx="15726585" cy="0"/>
          </a:xfrm>
          <a:prstGeom prst="line">
            <a:avLst/>
          </a:prstGeom>
          <a:ln cap="rnd" w="9525">
            <a:solidFill>
              <a:srgbClr val="EFEFEF"/>
            </a:solidFill>
            <a:prstDash val="solid"/>
            <a:headEnd type="oval" len="lg" w="lg"/>
            <a:tailEnd type="none" len="sm" w="sm"/>
          </a:ln>
        </p:spPr>
      </p:sp>
      <p:sp>
        <p:nvSpPr>
          <p:cNvPr name="AutoShape 9" id="9"/>
          <p:cNvSpPr/>
          <p:nvPr/>
        </p:nvSpPr>
        <p:spPr>
          <a:xfrm rot="10795680">
            <a:off x="-676675" y="9585731"/>
            <a:ext cx="15726585" cy="0"/>
          </a:xfrm>
          <a:prstGeom prst="line">
            <a:avLst/>
          </a:prstGeom>
          <a:ln cap="rnd" w="9525">
            <a:solidFill>
              <a:srgbClr val="EFEFEF"/>
            </a:solidFill>
            <a:prstDash val="solid"/>
            <a:headEnd type="oval" len="lg" w="lg"/>
            <a:tailEnd type="none" len="sm" w="sm"/>
          </a:ln>
        </p:spPr>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0A0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10286638"/>
          </a:xfrm>
          <a:custGeom>
            <a:avLst/>
            <a:gdLst/>
            <a:ahLst/>
            <a:cxnLst/>
            <a:rect r="r" b="b" t="t" l="l"/>
            <a:pathLst>
              <a:path h="10286638" w="18287276">
                <a:moveTo>
                  <a:pt x="0" y="0"/>
                </a:moveTo>
                <a:lnTo>
                  <a:pt x="18287276" y="0"/>
                </a:lnTo>
                <a:lnTo>
                  <a:pt x="18287276" y="10286638"/>
                </a:lnTo>
                <a:lnTo>
                  <a:pt x="0" y="10286638"/>
                </a:lnTo>
                <a:lnTo>
                  <a:pt x="0" y="0"/>
                </a:lnTo>
                <a:close/>
              </a:path>
            </a:pathLst>
          </a:custGeom>
          <a:blipFill>
            <a:blip r:embed="rId2"/>
            <a:stretch>
              <a:fillRect l="0" t="0" r="0" b="0"/>
            </a:stretch>
          </a:blipFill>
        </p:spPr>
      </p:sp>
      <p:grpSp>
        <p:nvGrpSpPr>
          <p:cNvPr name="Group 3" id="3"/>
          <p:cNvGrpSpPr/>
          <p:nvPr/>
        </p:nvGrpSpPr>
        <p:grpSpPr>
          <a:xfrm rot="0">
            <a:off x="1111406" y="1302068"/>
            <a:ext cx="9474822" cy="929669"/>
            <a:chOff x="0" y="0"/>
            <a:chExt cx="12633096" cy="1239558"/>
          </a:xfrm>
        </p:grpSpPr>
        <p:sp>
          <p:nvSpPr>
            <p:cNvPr name="Freeform 4" id="4"/>
            <p:cNvSpPr/>
            <p:nvPr/>
          </p:nvSpPr>
          <p:spPr>
            <a:xfrm flipH="false" flipV="false" rot="0">
              <a:off x="0" y="0"/>
              <a:ext cx="12633093" cy="1239563"/>
            </a:xfrm>
            <a:custGeom>
              <a:avLst/>
              <a:gdLst/>
              <a:ahLst/>
              <a:cxnLst/>
              <a:rect r="r" b="b" t="t" l="l"/>
              <a:pathLst>
                <a:path h="1239563" w="12633093">
                  <a:moveTo>
                    <a:pt x="0" y="0"/>
                  </a:moveTo>
                  <a:lnTo>
                    <a:pt x="12633093" y="0"/>
                  </a:lnTo>
                  <a:lnTo>
                    <a:pt x="12633093" y="1239563"/>
                  </a:lnTo>
                  <a:lnTo>
                    <a:pt x="0" y="1239563"/>
                  </a:lnTo>
                  <a:close/>
                </a:path>
              </a:pathLst>
            </a:custGeom>
            <a:solidFill>
              <a:srgbClr val="000000">
                <a:alpha val="0"/>
              </a:srgbClr>
            </a:solidFill>
            <a:ln w="12700">
              <a:solidFill>
                <a:srgbClr val="000000"/>
              </a:solidFill>
            </a:ln>
          </p:spPr>
        </p:sp>
        <p:sp>
          <p:nvSpPr>
            <p:cNvPr name="TextBox 5" id="5"/>
            <p:cNvSpPr txBox="true"/>
            <p:nvPr/>
          </p:nvSpPr>
          <p:spPr>
            <a:xfrm>
              <a:off x="0" y="-19050"/>
              <a:ext cx="12633096" cy="1258608"/>
            </a:xfrm>
            <a:prstGeom prst="rect">
              <a:avLst/>
            </a:prstGeom>
          </p:spPr>
          <p:txBody>
            <a:bodyPr anchor="b" rtlCol="false" tIns="0" lIns="0" bIns="0" rIns="0"/>
            <a:lstStyle/>
            <a:p>
              <a:pPr algn="l">
                <a:lnSpc>
                  <a:spcPts val="3887"/>
                </a:lnSpc>
              </a:pPr>
              <a:r>
                <a:rPr lang="en-US" sz="3240">
                  <a:solidFill>
                    <a:srgbClr val="EFEFEF"/>
                  </a:solidFill>
                  <a:latin typeface="Arimo"/>
                  <a:ea typeface="Arimo"/>
                  <a:cs typeface="Arimo"/>
                  <a:sym typeface="Arimo"/>
                </a:rPr>
                <a:t>Deployment and user interaction</a:t>
              </a:r>
            </a:p>
          </p:txBody>
        </p:sp>
      </p:grpSp>
      <p:grpSp>
        <p:nvGrpSpPr>
          <p:cNvPr name="Group 6" id="6"/>
          <p:cNvGrpSpPr/>
          <p:nvPr/>
        </p:nvGrpSpPr>
        <p:grpSpPr>
          <a:xfrm rot="0">
            <a:off x="7880194" y="3407940"/>
            <a:ext cx="8686076" cy="4685757"/>
            <a:chOff x="0" y="0"/>
            <a:chExt cx="11581435" cy="6247676"/>
          </a:xfrm>
        </p:grpSpPr>
        <p:sp>
          <p:nvSpPr>
            <p:cNvPr name="Freeform 7" id="7"/>
            <p:cNvSpPr/>
            <p:nvPr/>
          </p:nvSpPr>
          <p:spPr>
            <a:xfrm flipH="false" flipV="false" rot="0">
              <a:off x="0" y="0"/>
              <a:ext cx="11581440" cy="6247680"/>
            </a:xfrm>
            <a:custGeom>
              <a:avLst/>
              <a:gdLst/>
              <a:ahLst/>
              <a:cxnLst/>
              <a:rect r="r" b="b" t="t" l="l"/>
              <a:pathLst>
                <a:path h="6247680" w="11581440">
                  <a:moveTo>
                    <a:pt x="0" y="0"/>
                  </a:moveTo>
                  <a:lnTo>
                    <a:pt x="11581440" y="0"/>
                  </a:lnTo>
                  <a:lnTo>
                    <a:pt x="11581440" y="6247680"/>
                  </a:lnTo>
                  <a:lnTo>
                    <a:pt x="0" y="6247680"/>
                  </a:lnTo>
                  <a:close/>
                </a:path>
              </a:pathLst>
            </a:custGeom>
            <a:solidFill>
              <a:srgbClr val="000000">
                <a:alpha val="0"/>
              </a:srgbClr>
            </a:solidFill>
            <a:ln w="12700">
              <a:solidFill>
                <a:srgbClr val="000000"/>
              </a:solidFill>
            </a:ln>
          </p:spPr>
        </p:sp>
        <p:sp>
          <p:nvSpPr>
            <p:cNvPr name="TextBox 8" id="8"/>
            <p:cNvSpPr txBox="true"/>
            <p:nvPr/>
          </p:nvSpPr>
          <p:spPr>
            <a:xfrm>
              <a:off x="0" y="-257175"/>
              <a:ext cx="11581435" cy="6504851"/>
            </a:xfrm>
            <a:prstGeom prst="rect">
              <a:avLst/>
            </a:prstGeom>
          </p:spPr>
          <p:txBody>
            <a:bodyPr anchor="b" rtlCol="false" tIns="0" lIns="0" bIns="0" rIns="0"/>
            <a:lstStyle/>
            <a:p>
              <a:pPr algn="just">
                <a:lnSpc>
                  <a:spcPts val="5100"/>
                </a:lnSpc>
              </a:pPr>
              <a:r>
                <a:rPr lang="en-US" sz="2039" spc="72">
                  <a:solidFill>
                    <a:srgbClr val="EFEFEF"/>
                  </a:solidFill>
                  <a:latin typeface="Vollkorn"/>
                  <a:ea typeface="Vollkorn"/>
                  <a:cs typeface="Vollkorn"/>
                  <a:sym typeface="Vollkorn"/>
                </a:rPr>
                <a:t>After development, the website was deployed for real-time use, allowing users to register, browse internships, and submit applications. User feedback was incorporated to enhance functionality and usability. The deployment phase ensured the application met performance standards and provided a smooth experience across devices.</a:t>
              </a:r>
            </a:p>
          </p:txBody>
        </p:sp>
      </p:grpSp>
      <p:sp>
        <p:nvSpPr>
          <p:cNvPr name="Freeform 9" id="9"/>
          <p:cNvSpPr/>
          <p:nvPr/>
        </p:nvSpPr>
        <p:spPr>
          <a:xfrm flipH="false" flipV="false" rot="0">
            <a:off x="1500483" y="2980734"/>
            <a:ext cx="4348334" cy="5777255"/>
          </a:xfrm>
          <a:custGeom>
            <a:avLst/>
            <a:gdLst/>
            <a:ahLst/>
            <a:cxnLst/>
            <a:rect r="r" b="b" t="t" l="l"/>
            <a:pathLst>
              <a:path h="5777255" w="4348334">
                <a:moveTo>
                  <a:pt x="0" y="0"/>
                </a:moveTo>
                <a:lnTo>
                  <a:pt x="4348334" y="0"/>
                </a:lnTo>
                <a:lnTo>
                  <a:pt x="4348334" y="5777256"/>
                </a:lnTo>
                <a:lnTo>
                  <a:pt x="0" y="5777256"/>
                </a:lnTo>
                <a:lnTo>
                  <a:pt x="0" y="0"/>
                </a:lnTo>
                <a:close/>
              </a:path>
            </a:pathLst>
          </a:custGeom>
          <a:blipFill>
            <a:blip r:embed="rId3"/>
            <a:stretch>
              <a:fillRect l="-1990" t="0" r="-1979" b="-10476"/>
            </a:stretch>
          </a:blipFill>
        </p:spPr>
      </p:sp>
      <p:sp>
        <p:nvSpPr>
          <p:cNvPr name="AutoShape 10" id="10"/>
          <p:cNvSpPr/>
          <p:nvPr/>
        </p:nvSpPr>
        <p:spPr>
          <a:xfrm rot="10795680">
            <a:off x="-438779" y="9704680"/>
            <a:ext cx="15726585" cy="0"/>
          </a:xfrm>
          <a:prstGeom prst="line">
            <a:avLst/>
          </a:prstGeom>
          <a:ln cap="rnd" w="9525">
            <a:solidFill>
              <a:srgbClr val="EFEFEF"/>
            </a:solidFill>
            <a:prstDash val="solid"/>
            <a:headEnd type="oval" len="lg" w="lg"/>
            <a:tailEnd type="none" len="sm" w="sm"/>
          </a:ln>
        </p:spPr>
      </p:sp>
      <p:sp>
        <p:nvSpPr>
          <p:cNvPr name="AutoShape 11" id="11"/>
          <p:cNvSpPr/>
          <p:nvPr/>
        </p:nvSpPr>
        <p:spPr>
          <a:xfrm rot="10795680">
            <a:off x="-119110" y="10009480"/>
            <a:ext cx="15726585" cy="0"/>
          </a:xfrm>
          <a:prstGeom prst="line">
            <a:avLst/>
          </a:prstGeom>
          <a:ln cap="rnd" w="9525">
            <a:solidFill>
              <a:srgbClr val="EFEFEF"/>
            </a:solidFill>
            <a:prstDash val="solid"/>
            <a:headEnd type="oval" len="lg" w="lg"/>
            <a:tailEnd type="none" len="sm" w="sm"/>
          </a:ln>
        </p:spPr>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0A0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10286638"/>
          </a:xfrm>
          <a:custGeom>
            <a:avLst/>
            <a:gdLst/>
            <a:ahLst/>
            <a:cxnLst/>
            <a:rect r="r" b="b" t="t" l="l"/>
            <a:pathLst>
              <a:path h="10286638" w="18287276">
                <a:moveTo>
                  <a:pt x="0" y="0"/>
                </a:moveTo>
                <a:lnTo>
                  <a:pt x="18287276" y="0"/>
                </a:lnTo>
                <a:lnTo>
                  <a:pt x="18287276" y="10286638"/>
                </a:lnTo>
                <a:lnTo>
                  <a:pt x="0" y="10286638"/>
                </a:lnTo>
                <a:lnTo>
                  <a:pt x="0" y="0"/>
                </a:lnTo>
                <a:close/>
              </a:path>
            </a:pathLst>
          </a:custGeom>
          <a:blipFill>
            <a:blip r:embed="rId2"/>
            <a:stretch>
              <a:fillRect l="0" t="0" r="0" b="0"/>
            </a:stretch>
          </a:blipFill>
        </p:spPr>
      </p:sp>
      <p:sp>
        <p:nvSpPr>
          <p:cNvPr name="Freeform 3" id="3"/>
          <p:cNvSpPr/>
          <p:nvPr/>
        </p:nvSpPr>
        <p:spPr>
          <a:xfrm flipH="false" flipV="false" rot="0">
            <a:off x="14185440" y="0"/>
            <a:ext cx="4101836" cy="10286638"/>
          </a:xfrm>
          <a:custGeom>
            <a:avLst/>
            <a:gdLst/>
            <a:ahLst/>
            <a:cxnLst/>
            <a:rect r="r" b="b" t="t" l="l"/>
            <a:pathLst>
              <a:path h="10286638" w="4101836">
                <a:moveTo>
                  <a:pt x="0" y="0"/>
                </a:moveTo>
                <a:lnTo>
                  <a:pt x="4101836" y="0"/>
                </a:lnTo>
                <a:lnTo>
                  <a:pt x="4101836" y="10286638"/>
                </a:lnTo>
                <a:lnTo>
                  <a:pt x="0" y="10286638"/>
                </a:lnTo>
                <a:lnTo>
                  <a:pt x="0" y="0"/>
                </a:lnTo>
                <a:close/>
              </a:path>
            </a:pathLst>
          </a:custGeom>
          <a:blipFill>
            <a:blip r:embed="rId3">
              <a:alphaModFix amt="90000"/>
            </a:blip>
            <a:stretch>
              <a:fillRect l="-310763" t="0" r="-35069" b="0"/>
            </a:stretch>
          </a:blipFill>
        </p:spPr>
      </p:sp>
      <p:grpSp>
        <p:nvGrpSpPr>
          <p:cNvPr name="Group 4" id="4"/>
          <p:cNvGrpSpPr/>
          <p:nvPr/>
        </p:nvGrpSpPr>
        <p:grpSpPr>
          <a:xfrm rot="0">
            <a:off x="5386035" y="1934642"/>
            <a:ext cx="3586972" cy="978770"/>
            <a:chOff x="0" y="0"/>
            <a:chExt cx="4782630" cy="1305027"/>
          </a:xfrm>
        </p:grpSpPr>
        <p:sp>
          <p:nvSpPr>
            <p:cNvPr name="Freeform 5" id="5"/>
            <p:cNvSpPr/>
            <p:nvPr/>
          </p:nvSpPr>
          <p:spPr>
            <a:xfrm flipH="false" flipV="false" rot="0">
              <a:off x="0" y="0"/>
              <a:ext cx="4782632" cy="1305029"/>
            </a:xfrm>
            <a:custGeom>
              <a:avLst/>
              <a:gdLst/>
              <a:ahLst/>
              <a:cxnLst/>
              <a:rect r="r" b="b" t="t" l="l"/>
              <a:pathLst>
                <a:path h="1305029" w="4782632">
                  <a:moveTo>
                    <a:pt x="0" y="0"/>
                  </a:moveTo>
                  <a:lnTo>
                    <a:pt x="4782632" y="0"/>
                  </a:lnTo>
                  <a:lnTo>
                    <a:pt x="4782632" y="1305029"/>
                  </a:lnTo>
                  <a:lnTo>
                    <a:pt x="0" y="1305029"/>
                  </a:lnTo>
                  <a:close/>
                </a:path>
              </a:pathLst>
            </a:custGeom>
            <a:solidFill>
              <a:srgbClr val="000000">
                <a:alpha val="0"/>
              </a:srgbClr>
            </a:solidFill>
            <a:ln w="12700">
              <a:solidFill>
                <a:srgbClr val="000000"/>
              </a:solidFill>
            </a:ln>
          </p:spPr>
        </p:sp>
        <p:sp>
          <p:nvSpPr>
            <p:cNvPr name="TextBox 6" id="6"/>
            <p:cNvSpPr txBox="true"/>
            <p:nvPr/>
          </p:nvSpPr>
          <p:spPr>
            <a:xfrm>
              <a:off x="0" y="-19050"/>
              <a:ext cx="4782630" cy="1324077"/>
            </a:xfrm>
            <a:prstGeom prst="rect">
              <a:avLst/>
            </a:prstGeom>
          </p:spPr>
          <p:txBody>
            <a:bodyPr anchor="b" rtlCol="false" tIns="0" lIns="0" bIns="0" rIns="0"/>
            <a:lstStyle/>
            <a:p>
              <a:pPr algn="l">
                <a:lnSpc>
                  <a:spcPts val="3887"/>
                </a:lnSpc>
              </a:pPr>
              <a:r>
                <a:rPr lang="en-US" sz="3240">
                  <a:solidFill>
                    <a:srgbClr val="EFEFEF"/>
                  </a:solidFill>
                  <a:latin typeface="Arimo"/>
                  <a:ea typeface="Arimo"/>
                  <a:cs typeface="Arimo"/>
                  <a:sym typeface="Arimo"/>
                </a:rPr>
                <a:t>Conclusions</a:t>
              </a:r>
            </a:p>
          </p:txBody>
        </p:sp>
      </p:grpSp>
      <p:sp>
        <p:nvSpPr>
          <p:cNvPr name="TextBox 7" id="7"/>
          <p:cNvSpPr txBox="true"/>
          <p:nvPr/>
        </p:nvSpPr>
        <p:spPr>
          <a:xfrm rot="0">
            <a:off x="763886" y="3336141"/>
            <a:ext cx="13321246" cy="4924777"/>
          </a:xfrm>
          <a:prstGeom prst="rect">
            <a:avLst/>
          </a:prstGeom>
        </p:spPr>
        <p:txBody>
          <a:bodyPr anchor="t" rtlCol="false" tIns="0" lIns="0" bIns="0" rIns="0">
            <a:spAutoFit/>
          </a:bodyPr>
          <a:lstStyle/>
          <a:p>
            <a:pPr algn="just">
              <a:lnSpc>
                <a:spcPts val="6000"/>
              </a:lnSpc>
            </a:pPr>
            <a:r>
              <a:rPr lang="en-US" sz="2400" spc="85">
                <a:solidFill>
                  <a:srgbClr val="EFEFEF"/>
                </a:solidFill>
                <a:latin typeface="Vollkorn"/>
                <a:ea typeface="Vollkorn"/>
                <a:cs typeface="Vollkorn"/>
                <a:sym typeface="Vollkorn"/>
              </a:rPr>
              <a:t>The internship project successfully delivered a functional online internship application website, showcasing practical full stack development skills. This experience bridged academic knowledge and industry practices, enhancing technical proficiency and problem-solving abilities. The project contributes to efficient internship management and demonstrates readiness for professional web development roles.</a:t>
            </a:r>
          </a:p>
        </p:txBody>
      </p:sp>
      <p:sp>
        <p:nvSpPr>
          <p:cNvPr name="AutoShape 8" id="8"/>
          <p:cNvSpPr/>
          <p:nvPr/>
        </p:nvSpPr>
        <p:spPr>
          <a:xfrm rot="10795680">
            <a:off x="-9535" y="9881197"/>
            <a:ext cx="15726585" cy="0"/>
          </a:xfrm>
          <a:prstGeom prst="line">
            <a:avLst/>
          </a:prstGeom>
          <a:ln cap="rnd" w="9525">
            <a:solidFill>
              <a:srgbClr val="EFEFEF"/>
            </a:solidFill>
            <a:prstDash val="solid"/>
            <a:headEnd type="oval" len="lg" w="lg"/>
            <a:tailEnd type="none" len="sm" w="sm"/>
          </a:ln>
        </p:spPr>
      </p:sp>
      <p:sp>
        <p:nvSpPr>
          <p:cNvPr name="AutoShape 9" id="9"/>
          <p:cNvSpPr/>
          <p:nvPr/>
        </p:nvSpPr>
        <p:spPr>
          <a:xfrm rot="10795680">
            <a:off x="-438779" y="9496520"/>
            <a:ext cx="15726585" cy="0"/>
          </a:xfrm>
          <a:prstGeom prst="line">
            <a:avLst/>
          </a:prstGeom>
          <a:ln cap="rnd" w="9525">
            <a:solidFill>
              <a:srgbClr val="EFEFEF"/>
            </a:solidFill>
            <a:prstDash val="solid"/>
            <a:headEnd type="oval" len="lg" w="lg"/>
            <a:tailEnd type="none" len="sm" w="sm"/>
          </a:ln>
        </p:spPr>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0A0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10286638"/>
          </a:xfrm>
          <a:custGeom>
            <a:avLst/>
            <a:gdLst/>
            <a:ahLst/>
            <a:cxnLst/>
            <a:rect r="r" b="b" t="t" l="l"/>
            <a:pathLst>
              <a:path h="10286638" w="18287276">
                <a:moveTo>
                  <a:pt x="0" y="0"/>
                </a:moveTo>
                <a:lnTo>
                  <a:pt x="18287276" y="0"/>
                </a:lnTo>
                <a:lnTo>
                  <a:pt x="18287276" y="10286638"/>
                </a:lnTo>
                <a:lnTo>
                  <a:pt x="0" y="10286638"/>
                </a:lnTo>
                <a:lnTo>
                  <a:pt x="0" y="0"/>
                </a:lnTo>
                <a:close/>
              </a:path>
            </a:pathLst>
          </a:custGeom>
          <a:blipFill>
            <a:blip r:embed="rId2"/>
            <a:stretch>
              <a:fillRect l="0" t="0" r="0" b="0"/>
            </a:stretch>
          </a:blipFill>
        </p:spPr>
      </p:sp>
      <p:sp>
        <p:nvSpPr>
          <p:cNvPr name="Freeform 3" id="3"/>
          <p:cNvSpPr/>
          <p:nvPr/>
        </p:nvSpPr>
        <p:spPr>
          <a:xfrm flipH="true" flipV="false" rot="-10800000">
            <a:off x="0" y="6011999"/>
            <a:ext cx="18287276" cy="4274639"/>
          </a:xfrm>
          <a:custGeom>
            <a:avLst/>
            <a:gdLst/>
            <a:ahLst/>
            <a:cxnLst/>
            <a:rect r="r" b="b" t="t" l="l"/>
            <a:pathLst>
              <a:path h="4274639" w="18287276">
                <a:moveTo>
                  <a:pt x="18287276" y="0"/>
                </a:moveTo>
                <a:lnTo>
                  <a:pt x="0" y="0"/>
                </a:lnTo>
                <a:lnTo>
                  <a:pt x="0" y="4274639"/>
                </a:lnTo>
                <a:lnTo>
                  <a:pt x="18287276" y="4274639"/>
                </a:lnTo>
                <a:lnTo>
                  <a:pt x="18287276" y="0"/>
                </a:lnTo>
                <a:close/>
              </a:path>
            </a:pathLst>
          </a:custGeom>
          <a:blipFill>
            <a:blip r:embed="rId3"/>
            <a:stretch>
              <a:fillRect l="0" t="-12742" r="0" b="-127900"/>
            </a:stretch>
          </a:blipFill>
        </p:spPr>
      </p:sp>
      <p:grpSp>
        <p:nvGrpSpPr>
          <p:cNvPr name="Group 4" id="4"/>
          <p:cNvGrpSpPr/>
          <p:nvPr/>
        </p:nvGrpSpPr>
        <p:grpSpPr>
          <a:xfrm rot="0">
            <a:off x="5431679" y="8717756"/>
            <a:ext cx="7467838" cy="1111682"/>
            <a:chOff x="0" y="0"/>
            <a:chExt cx="9957118" cy="1482242"/>
          </a:xfrm>
        </p:grpSpPr>
        <p:sp>
          <p:nvSpPr>
            <p:cNvPr name="Freeform 5" id="5"/>
            <p:cNvSpPr/>
            <p:nvPr/>
          </p:nvSpPr>
          <p:spPr>
            <a:xfrm flipH="false" flipV="false" rot="0">
              <a:off x="0" y="0"/>
              <a:ext cx="9957120" cy="1482240"/>
            </a:xfrm>
            <a:custGeom>
              <a:avLst/>
              <a:gdLst/>
              <a:ahLst/>
              <a:cxnLst/>
              <a:rect r="r" b="b" t="t" l="l"/>
              <a:pathLst>
                <a:path h="1482240" w="9957120">
                  <a:moveTo>
                    <a:pt x="0" y="0"/>
                  </a:moveTo>
                  <a:lnTo>
                    <a:pt x="9957120" y="0"/>
                  </a:lnTo>
                  <a:lnTo>
                    <a:pt x="9957120" y="1482240"/>
                  </a:lnTo>
                  <a:lnTo>
                    <a:pt x="0" y="1482240"/>
                  </a:lnTo>
                  <a:close/>
                </a:path>
              </a:pathLst>
            </a:custGeom>
            <a:solidFill>
              <a:srgbClr val="000000">
                <a:alpha val="0"/>
              </a:srgbClr>
            </a:solidFill>
            <a:ln w="12700">
              <a:solidFill>
                <a:srgbClr val="000000"/>
              </a:solidFill>
            </a:ln>
          </p:spPr>
        </p:sp>
        <p:sp>
          <p:nvSpPr>
            <p:cNvPr name="TextBox 6" id="6"/>
            <p:cNvSpPr txBox="true"/>
            <p:nvPr/>
          </p:nvSpPr>
          <p:spPr>
            <a:xfrm>
              <a:off x="0" y="-9525"/>
              <a:ext cx="9957118" cy="1491767"/>
            </a:xfrm>
            <a:prstGeom prst="rect">
              <a:avLst/>
            </a:prstGeom>
          </p:spPr>
          <p:txBody>
            <a:bodyPr anchor="b" rtlCol="false" tIns="0" lIns="0" bIns="0" rIns="0"/>
            <a:lstStyle/>
            <a:p>
              <a:pPr algn="ctr">
                <a:lnSpc>
                  <a:spcPts val="2400"/>
                </a:lnSpc>
              </a:pPr>
              <a:r>
                <a:rPr lang="en-US" sz="2000" b="true">
                  <a:solidFill>
                    <a:srgbClr val="EFEFEF"/>
                  </a:solidFill>
                  <a:latin typeface="Inter Bold"/>
                  <a:ea typeface="Inter Bold"/>
                  <a:cs typeface="Inter Bold"/>
                  <a:sym typeface="Inter Bold"/>
                </a:rPr>
                <a:t>CREDITS:</a:t>
              </a:r>
              <a:r>
                <a:rPr lang="en-US" sz="2000">
                  <a:solidFill>
                    <a:srgbClr val="EFEFEF"/>
                  </a:solidFill>
                  <a:latin typeface="Inter"/>
                  <a:ea typeface="Inter"/>
                  <a:cs typeface="Inter"/>
                  <a:sym typeface="Inter"/>
                </a:rPr>
                <a:t> This presentation template was created by </a:t>
              </a:r>
              <a:r>
                <a:rPr lang="en-US" b="true" sz="2000" u="sng">
                  <a:solidFill>
                    <a:srgbClr val="F3F3F3"/>
                  </a:solidFill>
                  <a:latin typeface="Inter Bold"/>
                  <a:ea typeface="Inter Bold"/>
                  <a:cs typeface="Inter Bold"/>
                  <a:sym typeface="Inter Bold"/>
                  <a:hlinkClick r:id="rId4" tooltip="https://bit.ly/3A1uf1Q"/>
                </a:rPr>
                <a:t>Slidesgo</a:t>
              </a:r>
              <a:r>
                <a:rPr lang="en-US" sz="2000">
                  <a:solidFill>
                    <a:srgbClr val="EFEFEF"/>
                  </a:solidFill>
                  <a:latin typeface="Inter"/>
                  <a:ea typeface="Inter"/>
                  <a:cs typeface="Inter"/>
                  <a:sym typeface="Inter"/>
                </a:rPr>
                <a:t>, and includes icons, infographics &amp; images by </a:t>
              </a:r>
              <a:r>
                <a:rPr lang="en-US" b="true" sz="2000" u="sng">
                  <a:solidFill>
                    <a:srgbClr val="F3F3F3"/>
                  </a:solidFill>
                  <a:latin typeface="Inter Bold"/>
                  <a:ea typeface="Inter Bold"/>
                  <a:cs typeface="Inter Bold"/>
                  <a:sym typeface="Inter Bold"/>
                  <a:hlinkClick r:id="rId5" tooltip="http://bit.ly/2TtBDfr"/>
                </a:rPr>
                <a:t>Freepik</a:t>
              </a:r>
              <a:r>
                <a:rPr lang="en-US" sz="2000" u="sng">
                  <a:solidFill>
                    <a:srgbClr val="EFEFEF"/>
                  </a:solidFill>
                  <a:latin typeface="Inter"/>
                  <a:ea typeface="Inter"/>
                  <a:cs typeface="Inter"/>
                  <a:sym typeface="Inter"/>
                </a:rPr>
                <a:t> </a:t>
              </a:r>
            </a:p>
          </p:txBody>
        </p:sp>
      </p:grpSp>
      <p:sp>
        <p:nvSpPr>
          <p:cNvPr name="AutoShape 7" id="7"/>
          <p:cNvSpPr/>
          <p:nvPr/>
        </p:nvSpPr>
        <p:spPr>
          <a:xfrm rot="-5390880">
            <a:off x="5426459" y="2724398"/>
            <a:ext cx="7435796" cy="0"/>
          </a:xfrm>
          <a:prstGeom prst="line">
            <a:avLst/>
          </a:prstGeom>
          <a:ln cap="rnd" w="9525">
            <a:solidFill>
              <a:srgbClr val="EFEFEF"/>
            </a:solidFill>
            <a:prstDash val="solid"/>
            <a:headEnd type="oval" len="lg" w="lg"/>
            <a:tailEnd type="none" len="sm" w="sm"/>
          </a:ln>
        </p:spPr>
      </p:sp>
      <p:sp>
        <p:nvSpPr>
          <p:cNvPr name="Freeform 8" id="8" descr="Sun shining through clouds over a mountain  AI-generated content may be incorrect."/>
          <p:cNvSpPr/>
          <p:nvPr/>
        </p:nvSpPr>
        <p:spPr>
          <a:xfrm flipH="false" flipV="false" rot="0">
            <a:off x="-236458" y="-133817"/>
            <a:ext cx="18925175" cy="10943063"/>
          </a:xfrm>
          <a:custGeom>
            <a:avLst/>
            <a:gdLst/>
            <a:ahLst/>
            <a:cxnLst/>
            <a:rect r="r" b="b" t="t" l="l"/>
            <a:pathLst>
              <a:path h="10943063" w="18925175">
                <a:moveTo>
                  <a:pt x="0" y="0"/>
                </a:moveTo>
                <a:lnTo>
                  <a:pt x="18925175" y="0"/>
                </a:lnTo>
                <a:lnTo>
                  <a:pt x="18925175" y="10943063"/>
                </a:lnTo>
                <a:lnTo>
                  <a:pt x="0" y="10943063"/>
                </a:lnTo>
                <a:lnTo>
                  <a:pt x="0" y="0"/>
                </a:lnTo>
                <a:close/>
              </a:path>
            </a:pathLst>
          </a:custGeom>
          <a:blipFill>
            <a:blip r:embed="rId6"/>
            <a:stretch>
              <a:fillRect l="0" t="-36" r="0" b="-36"/>
            </a:stretch>
          </a:blipFill>
        </p:spPr>
      </p:sp>
      <p:sp>
        <p:nvSpPr>
          <p:cNvPr name="TextBox 9" id="9"/>
          <p:cNvSpPr txBox="true"/>
          <p:nvPr/>
        </p:nvSpPr>
        <p:spPr>
          <a:xfrm rot="0">
            <a:off x="5791867" y="2746305"/>
            <a:ext cx="6704266" cy="1229801"/>
          </a:xfrm>
          <a:prstGeom prst="rect">
            <a:avLst/>
          </a:prstGeom>
        </p:spPr>
        <p:txBody>
          <a:bodyPr anchor="t" rtlCol="false" tIns="0" lIns="0" bIns="0" rIns="0">
            <a:spAutoFit/>
          </a:bodyPr>
          <a:lstStyle/>
          <a:p>
            <a:pPr algn="l">
              <a:lnSpc>
                <a:spcPts val="8640"/>
              </a:lnSpc>
            </a:pPr>
            <a:r>
              <a:rPr lang="en-US" sz="7200">
                <a:solidFill>
                  <a:srgbClr val="EFEFEF"/>
                </a:solidFill>
                <a:latin typeface="Arimo"/>
                <a:ea typeface="Arimo"/>
                <a:cs typeface="Arimo"/>
                <a:sym typeface="Arimo"/>
              </a:rPr>
              <a:t>THANK YOU</a:t>
            </a:r>
          </a:p>
        </p:txBody>
      </p:sp>
      <p:sp>
        <p:nvSpPr>
          <p:cNvPr name="TextBox 10" id="10"/>
          <p:cNvSpPr txBox="true"/>
          <p:nvPr/>
        </p:nvSpPr>
        <p:spPr>
          <a:xfrm rot="0">
            <a:off x="91440" y="9443647"/>
            <a:ext cx="6649764" cy="675799"/>
          </a:xfrm>
          <a:prstGeom prst="rect">
            <a:avLst/>
          </a:prstGeom>
        </p:spPr>
        <p:txBody>
          <a:bodyPr anchor="t" rtlCol="false" tIns="0" lIns="0" bIns="0" rIns="0">
            <a:spAutoFit/>
          </a:bodyPr>
          <a:lstStyle/>
          <a:p>
            <a:pPr algn="l">
              <a:lnSpc>
                <a:spcPts val="4320"/>
              </a:lnSpc>
            </a:pPr>
            <a:r>
              <a:rPr lang="en-US" sz="3600">
                <a:solidFill>
                  <a:srgbClr val="EFEFEF"/>
                </a:solidFill>
                <a:latin typeface="Arial"/>
                <a:ea typeface="Arial"/>
                <a:cs typeface="Arial"/>
                <a:sym typeface="Arial"/>
              </a:rPr>
              <a:t>Presented By : INDRAJITH C V</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DAG9EA2r0Yk</dc:identifier>
  <dcterms:modified xsi:type="dcterms:W3CDTF">2011-08-01T06:04:30Z</dcterms:modified>
  <cp:revision>1</cp:revision>
  <dc:title>Internship Project.pptx</dc:title>
</cp:coreProperties>
</file>